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Noto Sans" panose="020B0502040504020204" pitchFamily="34" charset="0"/>
      <p:regular r:id="rId28"/>
    </p:embeddedFont>
    <p:embeddedFont>
      <p:font typeface="Noto Sans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3485637" y="419363"/>
            <a:ext cx="1916967" cy="1916967"/>
          </a:xfrm>
          <a:custGeom>
            <a:avLst/>
            <a:gdLst/>
            <a:ahLst/>
            <a:cxnLst/>
            <a:rect l="l" t="t" r="r" b="b"/>
            <a:pathLst>
              <a:path w="1916967" h="1916967">
                <a:moveTo>
                  <a:pt x="0" y="0"/>
                </a:moveTo>
                <a:lnTo>
                  <a:pt x="1916967" y="0"/>
                </a:lnTo>
                <a:lnTo>
                  <a:pt x="1916967" y="1916967"/>
                </a:lnTo>
                <a:lnTo>
                  <a:pt x="0" y="1916967"/>
                </a:lnTo>
                <a:lnTo>
                  <a:pt x="0" y="0"/>
                </a:lnTo>
                <a:close/>
              </a:path>
            </a:pathLst>
          </a:custGeom>
          <a:blipFill>
            <a:blip r:embed="rId3"/>
            <a:stretch>
              <a:fillRect/>
            </a:stretch>
          </a:blipFill>
        </p:spPr>
      </p:sp>
      <p:sp>
        <p:nvSpPr>
          <p:cNvPr id="4" name="TextBox 4"/>
          <p:cNvSpPr txBox="1"/>
          <p:nvPr/>
        </p:nvSpPr>
        <p:spPr>
          <a:xfrm>
            <a:off x="5791130" y="772051"/>
            <a:ext cx="7381042" cy="1144916"/>
          </a:xfrm>
          <a:prstGeom prst="rect">
            <a:avLst/>
          </a:prstGeom>
        </p:spPr>
        <p:txBody>
          <a:bodyPr lIns="0" tIns="0" rIns="0" bIns="0" rtlCol="0" anchor="t">
            <a:spAutoFit/>
          </a:bodyPr>
          <a:lstStyle/>
          <a:p>
            <a:pPr algn="ctr">
              <a:lnSpc>
                <a:spcPts val="4619"/>
              </a:lnSpc>
            </a:pPr>
            <a:r>
              <a:rPr lang="en-US" sz="3299" b="1">
                <a:solidFill>
                  <a:srgbClr val="000000"/>
                </a:solidFill>
                <a:latin typeface="Noto Sans Bold"/>
                <a:ea typeface="Noto Sans Bold"/>
                <a:cs typeface="Noto Sans Bold"/>
                <a:sym typeface="Noto Sans Bold"/>
              </a:rPr>
              <a:t>TRƯỜNG KỸ THUẬT VÀ CÔNG NGHỆ</a:t>
            </a:r>
          </a:p>
          <a:p>
            <a:pPr algn="ctr">
              <a:lnSpc>
                <a:spcPts val="4619"/>
              </a:lnSpc>
            </a:pPr>
            <a:r>
              <a:rPr lang="en-US" sz="3299">
                <a:solidFill>
                  <a:srgbClr val="000000"/>
                </a:solidFill>
                <a:latin typeface="Noto Sans"/>
                <a:ea typeface="Noto Sans"/>
                <a:cs typeface="Noto Sans"/>
                <a:sym typeface="Noto Sans"/>
              </a:rPr>
              <a:t>KHOA CÔNG NGHỆ THÔNG TIN</a:t>
            </a:r>
          </a:p>
        </p:txBody>
      </p:sp>
      <p:sp>
        <p:nvSpPr>
          <p:cNvPr id="5" name="TextBox 5"/>
          <p:cNvSpPr txBox="1"/>
          <p:nvPr/>
        </p:nvSpPr>
        <p:spPr>
          <a:xfrm>
            <a:off x="5918080" y="3156858"/>
            <a:ext cx="7127141" cy="580390"/>
          </a:xfrm>
          <a:prstGeom prst="rect">
            <a:avLst/>
          </a:prstGeom>
        </p:spPr>
        <p:txBody>
          <a:bodyPr wrap="square" lIns="0" tIns="0" rIns="0" bIns="0" rtlCol="0" anchor="t">
            <a:spAutoFit/>
          </a:bodyPr>
          <a:lstStyle/>
          <a:p>
            <a:pPr algn="ctr">
              <a:lnSpc>
                <a:spcPts val="4759"/>
              </a:lnSpc>
            </a:pPr>
            <a:r>
              <a:rPr lang="en-US" sz="3399" dirty="0">
                <a:solidFill>
                  <a:srgbClr val="000000"/>
                </a:solidFill>
                <a:latin typeface="Noto Sans"/>
                <a:ea typeface="Noto Sans"/>
                <a:cs typeface="Noto Sans"/>
                <a:sym typeface="Noto Sans"/>
              </a:rPr>
              <a:t>Báo </a:t>
            </a:r>
            <a:r>
              <a:rPr lang="en-US" sz="3399" dirty="0" err="1">
                <a:solidFill>
                  <a:srgbClr val="000000"/>
                </a:solidFill>
                <a:latin typeface="Noto Sans"/>
                <a:ea typeface="Noto Sans"/>
                <a:cs typeface="Noto Sans"/>
                <a:sym typeface="Noto Sans"/>
              </a:rPr>
              <a:t>cáo</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đồ</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án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chuyên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ngành</a:t>
            </a:r>
            <a:endParaRPr lang="en-US" sz="3399" dirty="0">
              <a:solidFill>
                <a:srgbClr val="000000"/>
              </a:solidFill>
              <a:latin typeface="Noto Sans"/>
              <a:ea typeface="Noto Sans"/>
              <a:cs typeface="Noto Sans"/>
              <a:sym typeface="Noto Sans"/>
            </a:endParaRPr>
          </a:p>
        </p:txBody>
      </p:sp>
      <p:sp>
        <p:nvSpPr>
          <p:cNvPr id="6" name="TextBox 6"/>
          <p:cNvSpPr txBox="1"/>
          <p:nvPr/>
        </p:nvSpPr>
        <p:spPr>
          <a:xfrm>
            <a:off x="8470814" y="3670680"/>
            <a:ext cx="1805107" cy="887095"/>
          </a:xfrm>
          <a:prstGeom prst="rect">
            <a:avLst/>
          </a:prstGeom>
        </p:spPr>
        <p:txBody>
          <a:bodyPr lIns="0" tIns="0" rIns="0" bIns="0" rtlCol="0" anchor="t">
            <a:spAutoFit/>
          </a:bodyPr>
          <a:lstStyle/>
          <a:p>
            <a:pPr algn="ctr">
              <a:lnSpc>
                <a:spcPts val="7279"/>
              </a:lnSpc>
            </a:pPr>
            <a:r>
              <a:rPr lang="en-US" sz="5199" dirty="0" err="1">
                <a:solidFill>
                  <a:srgbClr val="FF3131"/>
                </a:solidFill>
                <a:latin typeface="Noto Sans"/>
                <a:ea typeface="Noto Sans"/>
                <a:cs typeface="Noto Sans"/>
                <a:sym typeface="Noto Sans"/>
              </a:rPr>
              <a:t>Đề</a:t>
            </a:r>
            <a:r>
              <a:rPr lang="en-US" sz="5199" dirty="0">
                <a:solidFill>
                  <a:srgbClr val="FF3131"/>
                </a:solidFill>
                <a:latin typeface="Noto Sans"/>
                <a:ea typeface="Noto Sans"/>
                <a:cs typeface="Noto Sans"/>
                <a:sym typeface="Noto Sans"/>
              </a:rPr>
              <a:t> </a:t>
            </a:r>
            <a:r>
              <a:rPr lang="en-US" sz="5199" dirty="0" err="1">
                <a:solidFill>
                  <a:srgbClr val="FF3131"/>
                </a:solidFill>
                <a:latin typeface="Noto Sans"/>
                <a:ea typeface="Noto Sans"/>
                <a:cs typeface="Noto Sans"/>
                <a:sym typeface="Noto Sans"/>
              </a:rPr>
              <a:t>tài</a:t>
            </a:r>
            <a:endParaRPr lang="en-US" sz="5199" dirty="0">
              <a:solidFill>
                <a:srgbClr val="FF3131"/>
              </a:solidFill>
              <a:latin typeface="Noto Sans"/>
              <a:ea typeface="Noto Sans"/>
              <a:cs typeface="Noto Sans"/>
              <a:sym typeface="Noto Sans"/>
            </a:endParaRPr>
          </a:p>
        </p:txBody>
      </p:sp>
      <p:sp>
        <p:nvSpPr>
          <p:cNvPr id="7" name="TextBox 7"/>
          <p:cNvSpPr txBox="1"/>
          <p:nvPr/>
        </p:nvSpPr>
        <p:spPr>
          <a:xfrm>
            <a:off x="5402604" y="4557775"/>
            <a:ext cx="7941529" cy="1780540"/>
          </a:xfrm>
          <a:prstGeom prst="rect">
            <a:avLst/>
          </a:prstGeom>
        </p:spPr>
        <p:txBody>
          <a:bodyPr lIns="0" tIns="0" rIns="0" bIns="0" rtlCol="0" anchor="t">
            <a:spAutoFit/>
          </a:bodyPr>
          <a:lstStyle/>
          <a:p>
            <a:pPr algn="ctr">
              <a:lnSpc>
                <a:spcPts val="4759"/>
              </a:lnSpc>
            </a:pPr>
            <a:r>
              <a:rPr lang="en-US" sz="3399" b="1" dirty="0" err="1">
                <a:solidFill>
                  <a:srgbClr val="000000"/>
                </a:solidFill>
                <a:latin typeface="Noto Sans Bold"/>
                <a:ea typeface="Noto Sans Bold"/>
                <a:cs typeface="Noto Sans Bold"/>
                <a:sym typeface="Noto Sans Bold"/>
              </a:rPr>
              <a:t>Phát</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triển</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hệ</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thống</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quản</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lý</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bán</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hàng</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và</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đặt</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hàng</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trực</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tuyến</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quần</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áo</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thể</a:t>
            </a:r>
            <a:r>
              <a:rPr lang="en-US" sz="3399" b="1" dirty="0">
                <a:solidFill>
                  <a:srgbClr val="000000"/>
                </a:solidFill>
                <a:latin typeface="Noto Sans Bold"/>
                <a:ea typeface="Noto Sans Bold"/>
                <a:cs typeface="Noto Sans Bold"/>
                <a:sym typeface="Noto Sans Bold"/>
              </a:rPr>
              <a:t> </a:t>
            </a:r>
            <a:r>
              <a:rPr lang="en-US" sz="3399" b="1" dirty="0" err="1">
                <a:solidFill>
                  <a:srgbClr val="000000"/>
                </a:solidFill>
                <a:latin typeface="Noto Sans Bold"/>
                <a:ea typeface="Noto Sans Bold"/>
                <a:cs typeface="Noto Sans Bold"/>
                <a:sym typeface="Noto Sans Bold"/>
              </a:rPr>
              <a:t>thao</a:t>
            </a:r>
            <a:endParaRPr lang="en-US" sz="3399" b="1" dirty="0">
              <a:solidFill>
                <a:srgbClr val="000000"/>
              </a:solidFill>
              <a:latin typeface="Noto Sans Bold"/>
              <a:ea typeface="Noto Sans Bold"/>
              <a:cs typeface="Noto Sans Bold"/>
              <a:sym typeface="Noto Sans Bold"/>
            </a:endParaRPr>
          </a:p>
        </p:txBody>
      </p:sp>
      <p:sp>
        <p:nvSpPr>
          <p:cNvPr id="8" name="TextBox 8"/>
          <p:cNvSpPr txBox="1"/>
          <p:nvPr/>
        </p:nvSpPr>
        <p:spPr>
          <a:xfrm>
            <a:off x="1209230" y="6833502"/>
            <a:ext cx="4552813" cy="580390"/>
          </a:xfrm>
          <a:prstGeom prst="rect">
            <a:avLst/>
          </a:prstGeom>
        </p:spPr>
        <p:txBody>
          <a:bodyPr lIns="0" tIns="0" rIns="0" bIns="0" rtlCol="0" anchor="t">
            <a:spAutoFit/>
          </a:bodyPr>
          <a:lstStyle/>
          <a:p>
            <a:pPr algn="ctr">
              <a:lnSpc>
                <a:spcPts val="4759"/>
              </a:lnSpc>
            </a:pPr>
            <a:r>
              <a:rPr lang="en-US" sz="3399" dirty="0" err="1">
                <a:solidFill>
                  <a:srgbClr val="000000"/>
                </a:solidFill>
                <a:latin typeface="Noto Sans"/>
                <a:ea typeface="Noto Sans"/>
                <a:cs typeface="Noto Sans"/>
                <a:sym typeface="Noto Sans"/>
              </a:rPr>
              <a:t>Giáo</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viên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hướng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dẫn</a:t>
            </a:r>
            <a:r>
              <a:rPr lang="en-US" sz="3399" dirty="0">
                <a:solidFill>
                  <a:srgbClr val="000000"/>
                </a:solidFill>
                <a:latin typeface="Noto Sans"/>
                <a:ea typeface="Noto Sans"/>
                <a:cs typeface="Noto Sans"/>
                <a:sym typeface="Noto Sans"/>
              </a:rPr>
              <a:t>:</a:t>
            </a:r>
          </a:p>
        </p:txBody>
      </p:sp>
      <p:sp>
        <p:nvSpPr>
          <p:cNvPr id="9" name="TextBox 9"/>
          <p:cNvSpPr txBox="1"/>
          <p:nvPr/>
        </p:nvSpPr>
        <p:spPr>
          <a:xfrm>
            <a:off x="11353800" y="6853249"/>
            <a:ext cx="4810482"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Noto Sans"/>
                <a:ea typeface="Noto Sans"/>
                <a:cs typeface="Noto Sans"/>
                <a:sym typeface="Noto Sans"/>
              </a:rPr>
              <a:t>Sinh </a:t>
            </a:r>
            <a:r>
              <a:rPr lang="en-US" sz="3399" dirty="0" err="1">
                <a:solidFill>
                  <a:srgbClr val="000000"/>
                </a:solidFill>
                <a:latin typeface="Noto Sans"/>
                <a:ea typeface="Noto Sans"/>
                <a:cs typeface="Noto Sans"/>
                <a:sym typeface="Noto Sans"/>
              </a:rPr>
              <a:t>viên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thực</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hiện</a:t>
            </a:r>
            <a:r>
              <a:rPr lang="en-US" sz="3399" dirty="0">
                <a:solidFill>
                  <a:srgbClr val="000000"/>
                </a:solidFill>
                <a:latin typeface="Noto Sans"/>
                <a:ea typeface="Noto Sans"/>
                <a:cs typeface="Noto Sans"/>
                <a:sym typeface="Noto Sans"/>
              </a:rPr>
              <a:t>:</a:t>
            </a:r>
          </a:p>
        </p:txBody>
      </p:sp>
      <p:sp>
        <p:nvSpPr>
          <p:cNvPr id="10" name="TextBox 10"/>
          <p:cNvSpPr txBox="1"/>
          <p:nvPr/>
        </p:nvSpPr>
        <p:spPr>
          <a:xfrm>
            <a:off x="1163760" y="7480567"/>
            <a:ext cx="6532440" cy="580390"/>
          </a:xfrm>
          <a:prstGeom prst="rect">
            <a:avLst/>
          </a:prstGeom>
        </p:spPr>
        <p:txBody>
          <a:bodyPr wrap="square" lIns="0" tIns="0" rIns="0" bIns="0" rtlCol="0" anchor="t">
            <a:spAutoFit/>
          </a:bodyPr>
          <a:lstStyle/>
          <a:p>
            <a:pPr algn="ctr">
              <a:lnSpc>
                <a:spcPts val="4759"/>
              </a:lnSpc>
            </a:pPr>
            <a:r>
              <a:rPr lang="en-US" sz="3399" b="1" dirty="0" err="1">
                <a:solidFill>
                  <a:srgbClr val="000000"/>
                </a:solidFill>
                <a:latin typeface="Noto Sans Bold"/>
                <a:ea typeface="Noto Sans Bold"/>
                <a:cs typeface="Noto Sans Bold"/>
                <a:sym typeface="Noto Sans Bold"/>
              </a:rPr>
              <a:t>ThS.Nguyễn</a:t>
            </a:r>
            <a:r>
              <a:rPr lang="en-US" sz="3399" b="1" dirty="0">
                <a:solidFill>
                  <a:srgbClr val="000000"/>
                </a:solidFill>
                <a:latin typeface="Noto Sans Bold"/>
                <a:ea typeface="Noto Sans Bold"/>
                <a:cs typeface="Noto Sans Bold"/>
                <a:sym typeface="Noto Sans Bold"/>
              </a:rPr>
              <a:t> Ngọc </a:t>
            </a:r>
            <a:r>
              <a:rPr lang="en-US" sz="3399" b="1" dirty="0" err="1">
                <a:solidFill>
                  <a:srgbClr val="000000"/>
                </a:solidFill>
                <a:latin typeface="Noto Sans Bold"/>
                <a:ea typeface="Noto Sans Bold"/>
                <a:cs typeface="Noto Sans Bold"/>
                <a:sym typeface="Noto Sans Bold"/>
              </a:rPr>
              <a:t>Đan</a:t>
            </a:r>
            <a:r>
              <a:rPr lang="en-US" sz="3399" b="1" dirty="0">
                <a:solidFill>
                  <a:srgbClr val="000000"/>
                </a:solidFill>
                <a:latin typeface="Noto Sans Bold"/>
                <a:ea typeface="Noto Sans Bold"/>
                <a:cs typeface="Noto Sans Bold"/>
                <a:sym typeface="Noto Sans Bold"/>
              </a:rPr>
              <a:t> Thanh</a:t>
            </a:r>
          </a:p>
        </p:txBody>
      </p:sp>
      <p:sp>
        <p:nvSpPr>
          <p:cNvPr id="11" name="TextBox 11"/>
          <p:cNvSpPr txBox="1"/>
          <p:nvPr/>
        </p:nvSpPr>
        <p:spPr>
          <a:xfrm>
            <a:off x="11734800" y="7480567"/>
            <a:ext cx="5978059" cy="1180465"/>
          </a:xfrm>
          <a:prstGeom prst="rect">
            <a:avLst/>
          </a:prstGeom>
        </p:spPr>
        <p:txBody>
          <a:bodyPr wrap="square" lIns="0" tIns="0" rIns="0" bIns="0" rtlCol="0" anchor="t">
            <a:spAutoFit/>
          </a:bodyPr>
          <a:lstStyle/>
          <a:p>
            <a:pPr algn="ctr">
              <a:lnSpc>
                <a:spcPts val="4759"/>
              </a:lnSpc>
            </a:pPr>
            <a:r>
              <a:rPr lang="en-US" sz="3399" b="1" dirty="0">
                <a:solidFill>
                  <a:srgbClr val="000000"/>
                </a:solidFill>
                <a:latin typeface="Noto Sans Bold"/>
                <a:ea typeface="Noto Sans Bold"/>
                <a:cs typeface="Noto Sans Bold"/>
                <a:sym typeface="Noto Sans Bold"/>
              </a:rPr>
              <a:t>Huỳnh Quốc Thái - DA22TTB - 110122157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2089368" y="933450"/>
            <a:ext cx="4463832" cy="887095"/>
          </a:xfrm>
          <a:prstGeom prst="rect">
            <a:avLst/>
          </a:prstGeom>
        </p:spPr>
        <p:txBody>
          <a:bodyPr wrap="square" lIns="0" tIns="0" rIns="0" bIns="0" rtlCol="0" anchor="t">
            <a:spAutoFit/>
          </a:bodyPr>
          <a:lstStyle/>
          <a:p>
            <a:pPr algn="ctr">
              <a:lnSpc>
                <a:spcPts val="7279"/>
              </a:lnSpc>
            </a:pPr>
            <a:r>
              <a:rPr lang="en-US" sz="5199" b="1" dirty="0" err="1">
                <a:solidFill>
                  <a:srgbClr val="000000"/>
                </a:solidFill>
                <a:latin typeface="Noto Sans Bold"/>
                <a:ea typeface="Noto Sans Bold"/>
                <a:cs typeface="Noto Sans Bold"/>
                <a:sym typeface="Noto Sans Bold"/>
              </a:rPr>
              <a:t>Tổng</a:t>
            </a:r>
            <a:r>
              <a:rPr lang="en-US" sz="5199" b="1" dirty="0">
                <a:solidFill>
                  <a:srgbClr val="000000"/>
                </a:solidFill>
                <a:latin typeface="Noto Sans Bold"/>
                <a:ea typeface="Noto Sans Bold"/>
                <a:cs typeface="Noto Sans Bold"/>
                <a:sym typeface="Noto Sans Bold"/>
              </a:rPr>
              <a:t> </a:t>
            </a:r>
            <a:r>
              <a:rPr lang="en-US" sz="5199" b="1" dirty="0" err="1">
                <a:solidFill>
                  <a:srgbClr val="000000"/>
                </a:solidFill>
                <a:latin typeface="Noto Sans Bold"/>
                <a:ea typeface="Noto Sans Bold"/>
                <a:cs typeface="Noto Sans Bold"/>
                <a:sym typeface="Noto Sans Bold"/>
              </a:rPr>
              <a:t>quan</a:t>
            </a:r>
            <a:r>
              <a:rPr lang="en-US" sz="5199" b="1" dirty="0">
                <a:solidFill>
                  <a:srgbClr val="000000"/>
                </a:solidFill>
                <a:latin typeface="Noto Sans Bold"/>
                <a:ea typeface="Noto Sans Bold"/>
                <a:cs typeface="Noto Sans Bold"/>
                <a:sym typeface="Noto Sans Bold"/>
              </a:rPr>
              <a:t>:</a:t>
            </a:r>
          </a:p>
        </p:txBody>
      </p:sp>
      <p:sp>
        <p:nvSpPr>
          <p:cNvPr id="4" name="TextBox 4"/>
          <p:cNvSpPr txBox="1"/>
          <p:nvPr/>
        </p:nvSpPr>
        <p:spPr>
          <a:xfrm>
            <a:off x="2089368" y="2480151"/>
            <a:ext cx="5786557" cy="580390"/>
          </a:xfrm>
          <a:prstGeom prst="rect">
            <a:avLst/>
          </a:prstGeom>
        </p:spPr>
        <p:txBody>
          <a:bodyPr lIns="0" tIns="0" rIns="0" bIns="0" rtlCol="0" anchor="t">
            <a:spAutoFit/>
          </a:bodyPr>
          <a:lstStyle/>
          <a:p>
            <a:pPr algn="ctr">
              <a:lnSpc>
                <a:spcPts val="4759"/>
              </a:lnSpc>
            </a:pPr>
            <a:r>
              <a:rPr lang="en-US" sz="3399" dirty="0">
                <a:solidFill>
                  <a:srgbClr val="000000"/>
                </a:solidFill>
                <a:latin typeface="Noto Sans"/>
                <a:ea typeface="Noto Sans"/>
                <a:cs typeface="Noto Sans"/>
                <a:sym typeface="Noto Sans"/>
              </a:rPr>
              <a:t>CHƯƠNG 1 TỔNG QUAN</a:t>
            </a:r>
          </a:p>
        </p:txBody>
      </p:sp>
      <p:sp>
        <p:nvSpPr>
          <p:cNvPr id="5" name="TextBox 5"/>
          <p:cNvSpPr txBox="1"/>
          <p:nvPr/>
        </p:nvSpPr>
        <p:spPr>
          <a:xfrm>
            <a:off x="2269448" y="3870166"/>
            <a:ext cx="7834970"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CHƯƠNG 2 NGHIÊN CỨU LÝ THUYẾT</a:t>
            </a:r>
          </a:p>
        </p:txBody>
      </p:sp>
      <p:sp>
        <p:nvSpPr>
          <p:cNvPr id="6" name="TextBox 6"/>
          <p:cNvSpPr txBox="1"/>
          <p:nvPr/>
        </p:nvSpPr>
        <p:spPr>
          <a:xfrm>
            <a:off x="2370744" y="5260181"/>
            <a:ext cx="8780392"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CHƯƠNG 3 HIỆN THỰC HÓA NGHIÊN CỨU</a:t>
            </a:r>
          </a:p>
        </p:txBody>
      </p:sp>
      <p:sp>
        <p:nvSpPr>
          <p:cNvPr id="7" name="TextBox 7"/>
          <p:cNvSpPr txBox="1"/>
          <p:nvPr/>
        </p:nvSpPr>
        <p:spPr>
          <a:xfrm>
            <a:off x="2230056" y="6650196"/>
            <a:ext cx="9061767"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CHƯƠNG 4 HIỆN THỰC HÓA NGHIÊN CỨU</a:t>
            </a:r>
          </a:p>
        </p:txBody>
      </p:sp>
      <p:sp>
        <p:nvSpPr>
          <p:cNvPr id="8" name="TextBox 8"/>
          <p:cNvSpPr txBox="1"/>
          <p:nvPr/>
        </p:nvSpPr>
        <p:spPr>
          <a:xfrm>
            <a:off x="2427529" y="8040212"/>
            <a:ext cx="9439756"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CHƯƠNG 5 KẾT LUẬN VÀ HƯỚNG PHÁT TRIỂN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1028700" y="933450"/>
            <a:ext cx="9944100" cy="88709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Noto Sans Bold"/>
                <a:ea typeface="Noto Sans Bold"/>
                <a:cs typeface="Noto Sans Bold"/>
                <a:sym typeface="Noto Sans Bold"/>
              </a:rPr>
              <a:t>CHƯƠNG 1 TỔNG QUAN</a:t>
            </a:r>
          </a:p>
        </p:txBody>
      </p:sp>
      <p:sp>
        <p:nvSpPr>
          <p:cNvPr id="4" name="TextBox 4"/>
          <p:cNvSpPr txBox="1"/>
          <p:nvPr/>
        </p:nvSpPr>
        <p:spPr>
          <a:xfrm>
            <a:off x="1028700" y="2287734"/>
            <a:ext cx="5295900" cy="580390"/>
          </a:xfrm>
          <a:prstGeom prst="rect">
            <a:avLst/>
          </a:prstGeom>
        </p:spPr>
        <p:txBody>
          <a:bodyPr wrap="square" lIns="0" tIns="0" rIns="0" bIns="0" rtlCol="0" anchor="t">
            <a:spAutoFit/>
          </a:bodyPr>
          <a:lstStyle/>
          <a:p>
            <a:pPr algn="ctr">
              <a:lnSpc>
                <a:spcPts val="4759"/>
              </a:lnSpc>
            </a:pPr>
            <a:r>
              <a:rPr lang="en-US" sz="3399" dirty="0" err="1">
                <a:solidFill>
                  <a:srgbClr val="000000"/>
                </a:solidFill>
                <a:latin typeface="Noto Sans"/>
                <a:ea typeface="Noto Sans"/>
                <a:cs typeface="Noto Sans"/>
                <a:sym typeface="Noto Sans"/>
              </a:rPr>
              <a:t>Lí</a:t>
            </a:r>
            <a:r>
              <a:rPr lang="en-US" sz="3399" dirty="0">
                <a:solidFill>
                  <a:srgbClr val="000000"/>
                </a:solidFill>
                <a:latin typeface="Noto Sans"/>
                <a:ea typeface="Noto Sans"/>
                <a:cs typeface="Noto Sans"/>
                <a:sym typeface="Noto Sans"/>
              </a:rPr>
              <a:t> do </a:t>
            </a:r>
            <a:r>
              <a:rPr lang="en-US" sz="3399" dirty="0" err="1">
                <a:solidFill>
                  <a:srgbClr val="000000"/>
                </a:solidFill>
                <a:latin typeface="Noto Sans"/>
                <a:ea typeface="Noto Sans"/>
                <a:cs typeface="Noto Sans"/>
                <a:sym typeface="Noto Sans"/>
              </a:rPr>
              <a:t>chọn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đề</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tài</a:t>
            </a:r>
            <a:r>
              <a:rPr lang="en-US" sz="3399" dirty="0">
                <a:solidFill>
                  <a:srgbClr val="000000"/>
                </a:solidFill>
                <a:latin typeface="Noto Sans"/>
                <a:ea typeface="Noto Sans"/>
                <a:cs typeface="Noto Sans"/>
                <a:sym typeface="Noto Sans"/>
              </a:rPr>
              <a:t>:</a:t>
            </a:r>
          </a:p>
        </p:txBody>
      </p:sp>
      <p:sp>
        <p:nvSpPr>
          <p:cNvPr id="5" name="TextBox 5"/>
          <p:cNvSpPr txBox="1"/>
          <p:nvPr/>
        </p:nvSpPr>
        <p:spPr>
          <a:xfrm>
            <a:off x="1028700" y="3353899"/>
            <a:ext cx="16230600" cy="5802124"/>
          </a:xfrm>
          <a:prstGeom prst="rect">
            <a:avLst/>
          </a:prstGeom>
        </p:spPr>
        <p:txBody>
          <a:bodyPr lIns="0" tIns="0" rIns="0" bIns="0" rtlCol="0" anchor="t">
            <a:spAutoFit/>
          </a:bodyPr>
          <a:lstStyle/>
          <a:p>
            <a:pPr algn="l">
              <a:lnSpc>
                <a:spcPts val="3597"/>
              </a:lnSpc>
            </a:pPr>
            <a:r>
              <a:rPr lang="en-US" sz="2569">
                <a:solidFill>
                  <a:srgbClr val="000000"/>
                </a:solidFill>
                <a:latin typeface="Noto Sans"/>
                <a:ea typeface="Noto Sans"/>
                <a:cs typeface="Noto Sans"/>
                <a:sym typeface="Noto Sans"/>
              </a:rPr>
              <a:t> Trong những năm gần đây, thương mại điện tử tại Việt Nam phát triển mạnh mẽ, đặc biệt ở lĩnh vực thời trang và quần áo thể thao. Người tiêu dùng có xu hướng mua hàng trực tuyến vì sự tiện lợi, dễ dàng so sánh giá, theo dõi đơn hàng và hạn chế tối đa thời gian di chuyển. Tuy nhiên, nhiều cửa hàng quần áo thể thao quy mô nhỏ vẫn quản lý thủ công bằng sổ sách hoặc Excel, hoặc bán qua mạng xã hội mà không có hệ thống quản lý chuyên nghiệp. Điều này dẫn đến nhiều hạn chế như sai sót trong kiểm kê hàng hóa, thiếu báo cáo doanh thu, xử lý đơn hàng không nhất quán và không mang lại trải nghiệm tốt cho khách hàng.</a:t>
            </a:r>
          </a:p>
          <a:p>
            <a:pPr algn="l">
              <a:lnSpc>
                <a:spcPts val="3597"/>
              </a:lnSpc>
            </a:pPr>
            <a:r>
              <a:rPr lang="en-US" sz="2569">
                <a:solidFill>
                  <a:srgbClr val="000000"/>
                </a:solidFill>
                <a:latin typeface="Noto Sans"/>
                <a:ea typeface="Noto Sans"/>
                <a:cs typeface="Noto Sans"/>
                <a:sym typeface="Noto Sans"/>
              </a:rPr>
              <a:t> Việc xây dựng một hệ thống quản lý bán hàng và đặt hàng trực tuyến có khả năng quản lý sản phẩm, đơn hàng, khách hàng và thống kê doanh thu giúp khắc phục những vấn đề trên, đồng thời nâng cao tính chuyên nghiệp của cửa hàng. Về mặt học thuật, đề tài giúp sinh viên nắm vững các kiến thức thực hành về lập trình web, cơ sở dữ liệu và triển khai ứng dụng. Vì những lý do đó, em quyết định chọn đề tài “Phát triển Hệ thống Quản lý Bán hàng và Đặt hàng Trực tuyến Quần áo Thể thao”.</a:t>
            </a:r>
          </a:p>
          <a:p>
            <a:pPr algn="l">
              <a:lnSpc>
                <a:spcPts val="3597"/>
              </a:lnSpc>
            </a:pPr>
            <a:endParaRPr lang="en-US" sz="2569">
              <a:solidFill>
                <a:srgbClr val="000000"/>
              </a:solidFill>
              <a:latin typeface="Noto Sans"/>
              <a:ea typeface="Noto Sans"/>
              <a:cs typeface="Noto Sans"/>
              <a:sym typeface="No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1028700" y="933450"/>
            <a:ext cx="12207325"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CHƯƠNG 2 NGHIÊN CỨU LÝ THUYẾT</a:t>
            </a:r>
          </a:p>
        </p:txBody>
      </p:sp>
      <p:sp>
        <p:nvSpPr>
          <p:cNvPr id="4" name="TextBox 4"/>
          <p:cNvSpPr txBox="1"/>
          <p:nvPr/>
        </p:nvSpPr>
        <p:spPr>
          <a:xfrm>
            <a:off x="1028700" y="2291874"/>
            <a:ext cx="5219700" cy="580390"/>
          </a:xfrm>
          <a:prstGeom prst="rect">
            <a:avLst/>
          </a:prstGeom>
        </p:spPr>
        <p:txBody>
          <a:bodyPr wrap="square" lIns="0" tIns="0" rIns="0" bIns="0" rtlCol="0" anchor="t">
            <a:spAutoFit/>
          </a:bodyPr>
          <a:lstStyle/>
          <a:p>
            <a:pPr algn="ctr">
              <a:lnSpc>
                <a:spcPts val="4759"/>
              </a:lnSpc>
            </a:pPr>
            <a:r>
              <a:rPr lang="en-US" sz="3399" dirty="0" err="1">
                <a:solidFill>
                  <a:srgbClr val="000000"/>
                </a:solidFill>
                <a:latin typeface="Noto Sans"/>
                <a:ea typeface="Noto Sans"/>
                <a:cs typeface="Noto Sans"/>
                <a:sym typeface="Noto Sans"/>
              </a:rPr>
              <a:t>Tổng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quan</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về</a:t>
            </a:r>
            <a:r>
              <a:rPr lang="en-US" sz="3399" dirty="0">
                <a:solidFill>
                  <a:srgbClr val="000000"/>
                </a:solidFill>
                <a:latin typeface="Noto Sans"/>
                <a:ea typeface="Noto Sans"/>
                <a:cs typeface="Noto Sans"/>
                <a:sym typeface="Noto Sans"/>
              </a:rPr>
              <a:t> PHP:</a:t>
            </a:r>
          </a:p>
        </p:txBody>
      </p:sp>
      <p:sp>
        <p:nvSpPr>
          <p:cNvPr id="5" name="TextBox 5"/>
          <p:cNvSpPr txBox="1"/>
          <p:nvPr/>
        </p:nvSpPr>
        <p:spPr>
          <a:xfrm>
            <a:off x="1028700" y="3338989"/>
            <a:ext cx="16230600" cy="4180840"/>
          </a:xfrm>
          <a:prstGeom prst="rect">
            <a:avLst/>
          </a:prstGeom>
        </p:spPr>
        <p:txBody>
          <a:bodyPr lIns="0" tIns="0" rIns="0" bIns="0" rtlCol="0" anchor="t">
            <a:spAutoFit/>
          </a:bodyPr>
          <a:lstStyle/>
          <a:p>
            <a:pPr algn="l">
              <a:lnSpc>
                <a:spcPts val="4759"/>
              </a:lnSpc>
            </a:pPr>
            <a:r>
              <a:rPr lang="en-US" sz="3399">
                <a:solidFill>
                  <a:srgbClr val="000000"/>
                </a:solidFill>
                <a:latin typeface="Noto Sans"/>
                <a:ea typeface="Noto Sans"/>
                <a:cs typeface="Noto Sans"/>
                <a:sym typeface="Noto Sans"/>
              </a:rPr>
              <a:t> Ngôn ngữ PHP (Hypertext Preprocessor) là ngôn ngữ phía máy chủ (server-side scripting language) được sử dụng rộng rãi trong phát triển ứng dụng web. Ban đầu PHP có tên gọi “Personal Home Page”, nhưng về sau được mở rộng và đổi tên thành Hypertext Preprocessor để phản ánh đúng bản chất xử lý của nó. PHP cho phép lập trình viên xây dựng các trang web động bằng cách viết các đoạn mã được thực thi trực tiếp trên máy chủ.</a:t>
            </a:r>
          </a:p>
          <a:p>
            <a:pPr algn="l">
              <a:lnSpc>
                <a:spcPts val="4759"/>
              </a:lnSpc>
            </a:pPr>
            <a:endParaRPr lang="en-US" sz="3399">
              <a:solidFill>
                <a:srgbClr val="000000"/>
              </a:solidFill>
              <a:latin typeface="Noto Sans"/>
              <a:ea typeface="Noto Sans"/>
              <a:cs typeface="Noto Sans"/>
              <a:sym typeface="No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1028700" y="2099837"/>
            <a:ext cx="4769330"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Tổng quan về MySQL:</a:t>
            </a:r>
          </a:p>
        </p:txBody>
      </p:sp>
      <p:sp>
        <p:nvSpPr>
          <p:cNvPr id="4" name="TextBox 4"/>
          <p:cNvSpPr txBox="1"/>
          <p:nvPr/>
        </p:nvSpPr>
        <p:spPr>
          <a:xfrm>
            <a:off x="1028700" y="3064039"/>
            <a:ext cx="16230600" cy="4780915"/>
          </a:xfrm>
          <a:prstGeom prst="rect">
            <a:avLst/>
          </a:prstGeom>
        </p:spPr>
        <p:txBody>
          <a:bodyPr lIns="0" tIns="0" rIns="0" bIns="0" rtlCol="0" anchor="t">
            <a:spAutoFit/>
          </a:bodyPr>
          <a:lstStyle/>
          <a:p>
            <a:pPr algn="l">
              <a:lnSpc>
                <a:spcPts val="4759"/>
              </a:lnSpc>
            </a:pPr>
            <a:r>
              <a:rPr lang="en-US" sz="3399">
                <a:solidFill>
                  <a:srgbClr val="000000"/>
                </a:solidFill>
                <a:latin typeface="Noto Sans"/>
                <a:ea typeface="Noto Sans"/>
                <a:cs typeface="Noto Sans"/>
                <a:sym typeface="Noto Sans"/>
              </a:rPr>
              <a:t> MySQL là một hệ quản trị cơ sở dữ liệu quan hệ (Relational Database Management System – RDBMS) hoạt động dựa trên mô hình quan hệ và sử dụng ngôn ngữ SQL để truy xuất dữ liệu. MySQL được phát triển từ năm 1995 và hiện thuộc sở hữu của Oracle Corporation.</a:t>
            </a:r>
          </a:p>
          <a:p>
            <a:pPr algn="l">
              <a:lnSpc>
                <a:spcPts val="4759"/>
              </a:lnSpc>
            </a:pPr>
            <a:r>
              <a:rPr lang="en-US" sz="3399">
                <a:solidFill>
                  <a:srgbClr val="000000"/>
                </a:solidFill>
                <a:latin typeface="Noto Sans"/>
                <a:ea typeface="Noto Sans"/>
                <a:cs typeface="Noto Sans"/>
                <a:sym typeface="Noto Sans"/>
              </a:rPr>
              <a:t> MySQL là công nghệ cốt lõi trong hầu hết các hệ thống web thương mại điện tử hiện nay nhờ sự ổn định, tốc độ xử lý cao, khả năng mở rộng và tính dễ sử dụng.</a:t>
            </a:r>
          </a:p>
          <a:p>
            <a:pPr algn="l">
              <a:lnSpc>
                <a:spcPts val="4759"/>
              </a:lnSpc>
            </a:pPr>
            <a:endParaRPr lang="en-US" sz="3399">
              <a:solidFill>
                <a:srgbClr val="000000"/>
              </a:solidFill>
              <a:latin typeface="Noto Sans"/>
              <a:ea typeface="Noto Sans"/>
              <a:cs typeface="Noto Sans"/>
              <a:sym typeface="No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1028700" y="933450"/>
            <a:ext cx="13947318"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CHƯƠNG 3 HIỆN THỰC HÓA NGHIÊN CỨU</a:t>
            </a:r>
          </a:p>
        </p:txBody>
      </p:sp>
      <p:sp>
        <p:nvSpPr>
          <p:cNvPr id="4" name="TextBox 4"/>
          <p:cNvSpPr txBox="1"/>
          <p:nvPr/>
        </p:nvSpPr>
        <p:spPr>
          <a:xfrm>
            <a:off x="1028700" y="2285464"/>
            <a:ext cx="3511181"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Mô tả bài toán:</a:t>
            </a:r>
          </a:p>
        </p:txBody>
      </p:sp>
      <p:sp>
        <p:nvSpPr>
          <p:cNvPr id="5" name="TextBox 5"/>
          <p:cNvSpPr txBox="1"/>
          <p:nvPr/>
        </p:nvSpPr>
        <p:spPr>
          <a:xfrm>
            <a:off x="1028700" y="3332579"/>
            <a:ext cx="16230600" cy="4780915"/>
          </a:xfrm>
          <a:prstGeom prst="rect">
            <a:avLst/>
          </a:prstGeom>
        </p:spPr>
        <p:txBody>
          <a:bodyPr lIns="0" tIns="0" rIns="0" bIns="0" rtlCol="0" anchor="t">
            <a:spAutoFit/>
          </a:bodyPr>
          <a:lstStyle/>
          <a:p>
            <a:pPr algn="l">
              <a:lnSpc>
                <a:spcPts val="4759"/>
              </a:lnSpc>
            </a:pPr>
            <a:r>
              <a:rPr lang="en-US" sz="3399">
                <a:solidFill>
                  <a:srgbClr val="000000"/>
                </a:solidFill>
                <a:latin typeface="Noto Sans"/>
                <a:ea typeface="Noto Sans"/>
                <a:cs typeface="Noto Sans"/>
                <a:sym typeface="Noto Sans"/>
              </a:rPr>
              <a:t> Bài toán đặt ra là cần xây dựng một hệ thống bán hàng và đặt hàng trực tuyến quần áo thể thao nhằm tự động hóa các nghiệp vụ bán hàng cơ bản, hỗ trợ cả phía khách hàng và phía quản trị viên trong quá trình mua bán và quản lý. Hệ thống phải cho phép khách hàng dễ dàng truy cập thông qua trình duyệt web để xem danh sách sản phẩm, xem chi tiết sản phẩm, lựa chọn sản phẩm phù hợp, thêm vào giỏ hàng và thực hiện đặt hàng trực tuyến một cách nhanh chóng, thuận tiện.</a:t>
            </a:r>
          </a:p>
          <a:p>
            <a:pPr algn="l">
              <a:lnSpc>
                <a:spcPts val="4759"/>
              </a:lnSpc>
            </a:pPr>
            <a:endParaRPr lang="en-US" sz="3399">
              <a:solidFill>
                <a:srgbClr val="000000"/>
              </a:solidFill>
              <a:latin typeface="Noto Sans"/>
              <a:ea typeface="Noto Sans"/>
              <a:cs typeface="Noto Sans"/>
              <a:sym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4589119" y="2144562"/>
            <a:ext cx="9109763" cy="7113738"/>
          </a:xfrm>
          <a:custGeom>
            <a:avLst/>
            <a:gdLst/>
            <a:ahLst/>
            <a:cxnLst/>
            <a:rect l="l" t="t" r="r" b="b"/>
            <a:pathLst>
              <a:path w="9109763" h="7113738">
                <a:moveTo>
                  <a:pt x="0" y="0"/>
                </a:moveTo>
                <a:lnTo>
                  <a:pt x="9109762" y="0"/>
                </a:lnTo>
                <a:lnTo>
                  <a:pt x="9109762" y="7113738"/>
                </a:lnTo>
                <a:lnTo>
                  <a:pt x="0" y="7113738"/>
                </a:lnTo>
                <a:lnTo>
                  <a:pt x="0" y="0"/>
                </a:lnTo>
                <a:close/>
              </a:path>
            </a:pathLst>
          </a:custGeom>
          <a:blipFill>
            <a:blip r:embed="rId3"/>
            <a:stretch>
              <a:fillRect/>
            </a:stretch>
          </a:blipFill>
        </p:spPr>
      </p:sp>
      <p:sp>
        <p:nvSpPr>
          <p:cNvPr id="4" name="TextBox 4"/>
          <p:cNvSpPr txBox="1"/>
          <p:nvPr/>
        </p:nvSpPr>
        <p:spPr>
          <a:xfrm>
            <a:off x="1028700" y="933450"/>
            <a:ext cx="11772900" cy="887095"/>
          </a:xfrm>
          <a:prstGeom prst="rect">
            <a:avLst/>
          </a:prstGeom>
        </p:spPr>
        <p:txBody>
          <a:bodyPr wrap="square" lIns="0" tIns="0" rIns="0" bIns="0" rtlCol="0" anchor="t">
            <a:spAutoFit/>
          </a:bodyPr>
          <a:lstStyle/>
          <a:p>
            <a:pPr algn="ctr">
              <a:lnSpc>
                <a:spcPts val="7279"/>
              </a:lnSpc>
            </a:pPr>
            <a:r>
              <a:rPr lang="en-US" sz="5199" b="1" dirty="0" err="1">
                <a:solidFill>
                  <a:srgbClr val="000000"/>
                </a:solidFill>
                <a:latin typeface="Noto Sans Bold"/>
                <a:ea typeface="Noto Sans Bold"/>
                <a:cs typeface="Noto Sans Bold"/>
                <a:sym typeface="Noto Sans Bold"/>
              </a:rPr>
              <a:t>Mô</a:t>
            </a:r>
            <a:r>
              <a:rPr lang="en-US" sz="5199" b="1" dirty="0">
                <a:solidFill>
                  <a:srgbClr val="000000"/>
                </a:solidFill>
                <a:latin typeface="Noto Sans Bold"/>
                <a:ea typeface="Noto Sans Bold"/>
                <a:cs typeface="Noto Sans Bold"/>
                <a:sym typeface="Noto Sans Bold"/>
              </a:rPr>
              <a:t> </a:t>
            </a:r>
            <a:r>
              <a:rPr lang="en-US" sz="5199" b="1" dirty="0" err="1">
                <a:solidFill>
                  <a:srgbClr val="000000"/>
                </a:solidFill>
                <a:latin typeface="Noto Sans Bold"/>
                <a:ea typeface="Noto Sans Bold"/>
                <a:cs typeface="Noto Sans Bold"/>
                <a:sym typeface="Noto Sans Bold"/>
              </a:rPr>
              <a:t>hình</a:t>
            </a:r>
            <a:r>
              <a:rPr lang="en-US" sz="5199" b="1" dirty="0">
                <a:solidFill>
                  <a:srgbClr val="000000"/>
                </a:solidFill>
                <a:latin typeface="Noto Sans Bold"/>
                <a:ea typeface="Noto Sans Bold"/>
                <a:cs typeface="Noto Sans Bold"/>
                <a:sym typeface="Noto Sans Bold"/>
              </a:rPr>
              <a:t> </a:t>
            </a:r>
            <a:r>
              <a:rPr lang="en-US" sz="5199" b="1" dirty="0" err="1">
                <a:solidFill>
                  <a:srgbClr val="000000"/>
                </a:solidFill>
                <a:latin typeface="Noto Sans Bold"/>
                <a:ea typeface="Noto Sans Bold"/>
                <a:cs typeface="Noto Sans Bold"/>
                <a:sym typeface="Noto Sans Bold"/>
              </a:rPr>
              <a:t>thực</a:t>
            </a:r>
            <a:r>
              <a:rPr lang="en-US" sz="5199" b="1" dirty="0">
                <a:solidFill>
                  <a:srgbClr val="000000"/>
                </a:solidFill>
                <a:latin typeface="Noto Sans Bold"/>
                <a:ea typeface="Noto Sans Bold"/>
                <a:cs typeface="Noto Sans Bold"/>
                <a:sym typeface="Noto Sans Bold"/>
              </a:rPr>
              <a:t> </a:t>
            </a:r>
            <a:r>
              <a:rPr lang="en-US" sz="5199" b="1" dirty="0" err="1">
                <a:solidFill>
                  <a:srgbClr val="000000"/>
                </a:solidFill>
                <a:latin typeface="Noto Sans Bold"/>
                <a:ea typeface="Noto Sans Bold"/>
                <a:cs typeface="Noto Sans Bold"/>
                <a:sym typeface="Noto Sans Bold"/>
              </a:rPr>
              <a:t>thể</a:t>
            </a:r>
            <a:r>
              <a:rPr lang="en-US" sz="5199" b="1" dirty="0">
                <a:solidFill>
                  <a:srgbClr val="000000"/>
                </a:solidFill>
                <a:latin typeface="Noto Sans Bold"/>
                <a:ea typeface="Noto Sans Bold"/>
                <a:cs typeface="Noto Sans Bold"/>
                <a:sym typeface="Noto Sans Bold"/>
              </a:rPr>
              <a:t> </a:t>
            </a:r>
            <a:r>
              <a:rPr lang="en-US" sz="5199" b="1" dirty="0" err="1">
                <a:solidFill>
                  <a:srgbClr val="000000"/>
                </a:solidFill>
                <a:latin typeface="Noto Sans Bold"/>
                <a:ea typeface="Noto Sans Bold"/>
                <a:cs typeface="Noto Sans Bold"/>
                <a:sym typeface="Noto Sans Bold"/>
              </a:rPr>
              <a:t>kết</a:t>
            </a:r>
            <a:r>
              <a:rPr lang="en-US" sz="5199" b="1" dirty="0">
                <a:solidFill>
                  <a:srgbClr val="000000"/>
                </a:solidFill>
                <a:latin typeface="Noto Sans Bold"/>
                <a:ea typeface="Noto Sans Bold"/>
                <a:cs typeface="Noto Sans Bold"/>
                <a:sym typeface="Noto Sans Bold"/>
              </a:rPr>
              <a:t> </a:t>
            </a:r>
            <a:r>
              <a:rPr lang="en-US" sz="5199" b="1" dirty="0" err="1">
                <a:solidFill>
                  <a:srgbClr val="000000"/>
                </a:solidFill>
                <a:latin typeface="Noto Sans Bold"/>
                <a:ea typeface="Noto Sans Bold"/>
                <a:cs typeface="Noto Sans Bold"/>
                <a:sym typeface="Noto Sans Bold"/>
              </a:rPr>
              <a:t>hợp</a:t>
            </a:r>
            <a:r>
              <a:rPr lang="en-US" sz="5199" b="1" dirty="0">
                <a:solidFill>
                  <a:srgbClr val="000000"/>
                </a:solidFill>
                <a:latin typeface="Noto Sans Bold"/>
                <a:ea typeface="Noto Sans Bold"/>
                <a:cs typeface="Noto Sans Bold"/>
                <a:sym typeface="Noto Sans Bold"/>
              </a:rPr>
              <a:t> ERD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5126259" y="2121892"/>
            <a:ext cx="8035483" cy="7136408"/>
          </a:xfrm>
          <a:custGeom>
            <a:avLst/>
            <a:gdLst/>
            <a:ahLst/>
            <a:cxnLst/>
            <a:rect l="l" t="t" r="r" b="b"/>
            <a:pathLst>
              <a:path w="8035483" h="7136408">
                <a:moveTo>
                  <a:pt x="0" y="0"/>
                </a:moveTo>
                <a:lnTo>
                  <a:pt x="8035482" y="0"/>
                </a:lnTo>
                <a:lnTo>
                  <a:pt x="8035482" y="7136408"/>
                </a:lnTo>
                <a:lnTo>
                  <a:pt x="0" y="7136408"/>
                </a:lnTo>
                <a:lnTo>
                  <a:pt x="0" y="0"/>
                </a:lnTo>
                <a:close/>
              </a:path>
            </a:pathLst>
          </a:custGeom>
          <a:blipFill>
            <a:blip r:embed="rId3"/>
            <a:stretch>
              <a:fillRect/>
            </a:stretch>
          </a:blipFill>
        </p:spPr>
      </p:sp>
      <p:sp>
        <p:nvSpPr>
          <p:cNvPr id="4" name="TextBox 4"/>
          <p:cNvSpPr txBox="1"/>
          <p:nvPr/>
        </p:nvSpPr>
        <p:spPr>
          <a:xfrm>
            <a:off x="1028700" y="933450"/>
            <a:ext cx="7177802"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Mô hình dữ liệu vật lý</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2183078" y="2369512"/>
            <a:ext cx="13921844" cy="6888788"/>
          </a:xfrm>
          <a:custGeom>
            <a:avLst/>
            <a:gdLst/>
            <a:ahLst/>
            <a:cxnLst/>
            <a:rect l="l" t="t" r="r" b="b"/>
            <a:pathLst>
              <a:path w="13921844" h="6888788">
                <a:moveTo>
                  <a:pt x="0" y="0"/>
                </a:moveTo>
                <a:lnTo>
                  <a:pt x="13921844" y="0"/>
                </a:lnTo>
                <a:lnTo>
                  <a:pt x="13921844" y="6888788"/>
                </a:lnTo>
                <a:lnTo>
                  <a:pt x="0" y="6888788"/>
                </a:lnTo>
                <a:lnTo>
                  <a:pt x="0" y="0"/>
                </a:lnTo>
                <a:close/>
              </a:path>
            </a:pathLst>
          </a:custGeom>
          <a:blipFill>
            <a:blip r:embed="rId3"/>
            <a:stretch>
              <a:fillRect/>
            </a:stretch>
          </a:blipFill>
        </p:spPr>
      </p:sp>
      <p:sp>
        <p:nvSpPr>
          <p:cNvPr id="4" name="TextBox 4"/>
          <p:cNvSpPr txBox="1"/>
          <p:nvPr/>
        </p:nvSpPr>
        <p:spPr>
          <a:xfrm>
            <a:off x="1028700" y="933450"/>
            <a:ext cx="7693104"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Danh sách các thực thể</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3999889" y="2116800"/>
            <a:ext cx="10288223" cy="7141500"/>
          </a:xfrm>
          <a:custGeom>
            <a:avLst/>
            <a:gdLst/>
            <a:ahLst/>
            <a:cxnLst/>
            <a:rect l="l" t="t" r="r" b="b"/>
            <a:pathLst>
              <a:path w="10288223" h="7141500">
                <a:moveTo>
                  <a:pt x="0" y="0"/>
                </a:moveTo>
                <a:lnTo>
                  <a:pt x="10288222" y="0"/>
                </a:lnTo>
                <a:lnTo>
                  <a:pt x="10288222" y="7141500"/>
                </a:lnTo>
                <a:lnTo>
                  <a:pt x="0" y="7141500"/>
                </a:lnTo>
                <a:lnTo>
                  <a:pt x="0" y="0"/>
                </a:lnTo>
                <a:close/>
              </a:path>
            </a:pathLst>
          </a:custGeom>
          <a:blipFill>
            <a:blip r:embed="rId3"/>
            <a:stretch>
              <a:fillRect/>
            </a:stretch>
          </a:blipFill>
        </p:spPr>
      </p:sp>
      <p:sp>
        <p:nvSpPr>
          <p:cNvPr id="4" name="TextBox 4"/>
          <p:cNvSpPr txBox="1"/>
          <p:nvPr/>
        </p:nvSpPr>
        <p:spPr>
          <a:xfrm>
            <a:off x="1028700" y="933450"/>
            <a:ext cx="9182338"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Mô hình DFD mức ngữ cảnh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4564337" y="2121892"/>
            <a:ext cx="9159327" cy="7136408"/>
          </a:xfrm>
          <a:custGeom>
            <a:avLst/>
            <a:gdLst/>
            <a:ahLst/>
            <a:cxnLst/>
            <a:rect l="l" t="t" r="r" b="b"/>
            <a:pathLst>
              <a:path w="9159327" h="7136408">
                <a:moveTo>
                  <a:pt x="0" y="0"/>
                </a:moveTo>
                <a:lnTo>
                  <a:pt x="9159326" y="0"/>
                </a:lnTo>
                <a:lnTo>
                  <a:pt x="9159326" y="7136408"/>
                </a:lnTo>
                <a:lnTo>
                  <a:pt x="0" y="7136408"/>
                </a:lnTo>
                <a:lnTo>
                  <a:pt x="0" y="0"/>
                </a:lnTo>
                <a:close/>
              </a:path>
            </a:pathLst>
          </a:custGeom>
          <a:blipFill>
            <a:blip r:embed="rId3"/>
            <a:stretch>
              <a:fillRect/>
            </a:stretch>
          </a:blipFill>
        </p:spPr>
      </p:sp>
      <p:sp>
        <p:nvSpPr>
          <p:cNvPr id="4" name="TextBox 4"/>
          <p:cNvSpPr txBox="1"/>
          <p:nvPr/>
        </p:nvSpPr>
        <p:spPr>
          <a:xfrm>
            <a:off x="1028700" y="933450"/>
            <a:ext cx="6428423"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Mô hình DFD mức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4849941" y="2871996"/>
            <a:ext cx="8588117" cy="6386304"/>
          </a:xfrm>
          <a:custGeom>
            <a:avLst/>
            <a:gdLst/>
            <a:ahLst/>
            <a:cxnLst/>
            <a:rect l="l" t="t" r="r" b="b"/>
            <a:pathLst>
              <a:path w="8588117" h="6386304">
                <a:moveTo>
                  <a:pt x="0" y="0"/>
                </a:moveTo>
                <a:lnTo>
                  <a:pt x="8588118" y="0"/>
                </a:lnTo>
                <a:lnTo>
                  <a:pt x="8588118" y="6386304"/>
                </a:lnTo>
                <a:lnTo>
                  <a:pt x="0" y="6386304"/>
                </a:lnTo>
                <a:lnTo>
                  <a:pt x="0" y="0"/>
                </a:lnTo>
                <a:close/>
              </a:path>
            </a:pathLst>
          </a:custGeom>
          <a:blipFill>
            <a:blip r:embed="rId3"/>
            <a:stretch>
              <a:fillRect/>
            </a:stretch>
          </a:blipFill>
        </p:spPr>
      </p:sp>
      <p:sp>
        <p:nvSpPr>
          <p:cNvPr id="4" name="TextBox 4"/>
          <p:cNvSpPr txBox="1"/>
          <p:nvPr/>
        </p:nvSpPr>
        <p:spPr>
          <a:xfrm>
            <a:off x="3954363" y="933450"/>
            <a:ext cx="10379273" cy="1811020"/>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Mô hình DFD mức 2 </a:t>
            </a:r>
          </a:p>
          <a:p>
            <a:pPr algn="ctr">
              <a:lnSpc>
                <a:spcPts val="7279"/>
              </a:lnSpc>
            </a:pPr>
            <a:r>
              <a:rPr lang="en-US" sz="5199" b="1">
                <a:solidFill>
                  <a:srgbClr val="000000"/>
                </a:solidFill>
                <a:latin typeface="Noto Sans Bold"/>
                <a:ea typeface="Noto Sans Bold"/>
                <a:cs typeface="Noto Sans Bold"/>
                <a:sym typeface="Noto Sans Bold"/>
              </a:rPr>
              <a:t>Chức năng quản lý người dùng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4809038" y="2973695"/>
            <a:ext cx="8669923" cy="6284605"/>
          </a:xfrm>
          <a:custGeom>
            <a:avLst/>
            <a:gdLst/>
            <a:ahLst/>
            <a:cxnLst/>
            <a:rect l="l" t="t" r="r" b="b"/>
            <a:pathLst>
              <a:path w="8669923" h="6284605">
                <a:moveTo>
                  <a:pt x="0" y="0"/>
                </a:moveTo>
                <a:lnTo>
                  <a:pt x="8669924" y="0"/>
                </a:lnTo>
                <a:lnTo>
                  <a:pt x="8669924" y="6284605"/>
                </a:lnTo>
                <a:lnTo>
                  <a:pt x="0" y="6284605"/>
                </a:lnTo>
                <a:lnTo>
                  <a:pt x="0" y="0"/>
                </a:lnTo>
                <a:close/>
              </a:path>
            </a:pathLst>
          </a:custGeom>
          <a:blipFill>
            <a:blip r:embed="rId3"/>
            <a:stretch>
              <a:fillRect/>
            </a:stretch>
          </a:blipFill>
        </p:spPr>
      </p:sp>
      <p:sp>
        <p:nvSpPr>
          <p:cNvPr id="4" name="TextBox 4"/>
          <p:cNvSpPr txBox="1"/>
          <p:nvPr/>
        </p:nvSpPr>
        <p:spPr>
          <a:xfrm>
            <a:off x="4363700" y="933450"/>
            <a:ext cx="9560600" cy="1811020"/>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Mô hình DFD mức 2 </a:t>
            </a:r>
          </a:p>
          <a:p>
            <a:pPr algn="ctr">
              <a:lnSpc>
                <a:spcPts val="7279"/>
              </a:lnSpc>
            </a:pPr>
            <a:r>
              <a:rPr lang="en-US" sz="5199" b="1">
                <a:solidFill>
                  <a:srgbClr val="000000"/>
                </a:solidFill>
                <a:latin typeface="Noto Sans Bold"/>
                <a:ea typeface="Noto Sans Bold"/>
                <a:cs typeface="Noto Sans Bold"/>
                <a:sym typeface="Noto Sans Bold"/>
              </a:rPr>
              <a:t>Chức năng quản lý sản phẩm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5388419" y="3005821"/>
            <a:ext cx="7511161" cy="6252479"/>
          </a:xfrm>
          <a:custGeom>
            <a:avLst/>
            <a:gdLst/>
            <a:ahLst/>
            <a:cxnLst/>
            <a:rect l="l" t="t" r="r" b="b"/>
            <a:pathLst>
              <a:path w="7511161" h="6252479">
                <a:moveTo>
                  <a:pt x="0" y="0"/>
                </a:moveTo>
                <a:lnTo>
                  <a:pt x="7511162" y="0"/>
                </a:lnTo>
                <a:lnTo>
                  <a:pt x="7511162" y="6252479"/>
                </a:lnTo>
                <a:lnTo>
                  <a:pt x="0" y="6252479"/>
                </a:lnTo>
                <a:lnTo>
                  <a:pt x="0" y="0"/>
                </a:lnTo>
                <a:close/>
              </a:path>
            </a:pathLst>
          </a:custGeom>
          <a:blipFill>
            <a:blip r:embed="rId3"/>
            <a:stretch>
              <a:fillRect/>
            </a:stretch>
          </a:blipFill>
        </p:spPr>
      </p:sp>
      <p:sp>
        <p:nvSpPr>
          <p:cNvPr id="4" name="TextBox 4"/>
          <p:cNvSpPr txBox="1"/>
          <p:nvPr/>
        </p:nvSpPr>
        <p:spPr>
          <a:xfrm>
            <a:off x="4537353" y="933450"/>
            <a:ext cx="9213295" cy="1811020"/>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Mô hình DFD mức 2 </a:t>
            </a:r>
          </a:p>
          <a:p>
            <a:pPr algn="ctr">
              <a:lnSpc>
                <a:spcPts val="7279"/>
              </a:lnSpc>
            </a:pPr>
            <a:r>
              <a:rPr lang="en-US" sz="5199" b="1">
                <a:solidFill>
                  <a:srgbClr val="000000"/>
                </a:solidFill>
                <a:latin typeface="Noto Sans Bold"/>
                <a:ea typeface="Noto Sans Bold"/>
                <a:cs typeface="Noto Sans Bold"/>
                <a:sym typeface="Noto Sans Bold"/>
              </a:rPr>
              <a:t>Chức năng quản lý giỏ hàng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3361626" y="2744470"/>
            <a:ext cx="11564748" cy="6310415"/>
          </a:xfrm>
          <a:custGeom>
            <a:avLst/>
            <a:gdLst/>
            <a:ahLst/>
            <a:cxnLst/>
            <a:rect l="l" t="t" r="r" b="b"/>
            <a:pathLst>
              <a:path w="11564748" h="6310415">
                <a:moveTo>
                  <a:pt x="0" y="0"/>
                </a:moveTo>
                <a:lnTo>
                  <a:pt x="11564748" y="0"/>
                </a:lnTo>
                <a:lnTo>
                  <a:pt x="11564748" y="6310415"/>
                </a:lnTo>
                <a:lnTo>
                  <a:pt x="0" y="6310415"/>
                </a:lnTo>
                <a:lnTo>
                  <a:pt x="0" y="0"/>
                </a:lnTo>
                <a:close/>
              </a:path>
            </a:pathLst>
          </a:custGeom>
          <a:blipFill>
            <a:blip r:embed="rId3"/>
            <a:stretch>
              <a:fillRect/>
            </a:stretch>
          </a:blipFill>
        </p:spPr>
      </p:sp>
      <p:sp>
        <p:nvSpPr>
          <p:cNvPr id="4" name="TextBox 4"/>
          <p:cNvSpPr txBox="1"/>
          <p:nvPr/>
        </p:nvSpPr>
        <p:spPr>
          <a:xfrm>
            <a:off x="4583200" y="933450"/>
            <a:ext cx="9513800" cy="1743360"/>
          </a:xfrm>
          <a:prstGeom prst="rect">
            <a:avLst/>
          </a:prstGeom>
        </p:spPr>
        <p:txBody>
          <a:bodyPr wrap="square" lIns="0" tIns="0" rIns="0" bIns="0" rtlCol="0" anchor="t">
            <a:spAutoFit/>
          </a:bodyPr>
          <a:lstStyle/>
          <a:p>
            <a:pPr algn="ctr">
              <a:lnSpc>
                <a:spcPts val="6992"/>
              </a:lnSpc>
            </a:pPr>
            <a:r>
              <a:rPr lang="en-US" sz="4994" b="1" dirty="0" err="1">
                <a:solidFill>
                  <a:srgbClr val="000000"/>
                </a:solidFill>
                <a:latin typeface="Noto Sans Bold"/>
                <a:ea typeface="Noto Sans Bold"/>
                <a:cs typeface="Noto Sans Bold"/>
                <a:sym typeface="Noto Sans Bold"/>
              </a:rPr>
              <a:t>Mô</a:t>
            </a:r>
            <a:r>
              <a:rPr lang="en-US" sz="4994" b="1" dirty="0">
                <a:solidFill>
                  <a:srgbClr val="000000"/>
                </a:solidFill>
                <a:latin typeface="Noto Sans Bold"/>
                <a:ea typeface="Noto Sans Bold"/>
                <a:cs typeface="Noto Sans Bold"/>
                <a:sym typeface="Noto Sans Bold"/>
              </a:rPr>
              <a:t> </a:t>
            </a:r>
            <a:r>
              <a:rPr lang="en-US" sz="4994" b="1" dirty="0" err="1">
                <a:solidFill>
                  <a:srgbClr val="000000"/>
                </a:solidFill>
                <a:latin typeface="Noto Sans Bold"/>
                <a:ea typeface="Noto Sans Bold"/>
                <a:cs typeface="Noto Sans Bold"/>
                <a:sym typeface="Noto Sans Bold"/>
              </a:rPr>
              <a:t>hình</a:t>
            </a:r>
            <a:r>
              <a:rPr lang="en-US" sz="4994" b="1" dirty="0">
                <a:solidFill>
                  <a:srgbClr val="000000"/>
                </a:solidFill>
                <a:latin typeface="Noto Sans Bold"/>
                <a:ea typeface="Noto Sans Bold"/>
                <a:cs typeface="Noto Sans Bold"/>
                <a:sym typeface="Noto Sans Bold"/>
              </a:rPr>
              <a:t> DFD </a:t>
            </a:r>
            <a:r>
              <a:rPr lang="en-US" sz="4994" b="1" dirty="0" err="1">
                <a:solidFill>
                  <a:srgbClr val="000000"/>
                </a:solidFill>
                <a:latin typeface="Noto Sans Bold"/>
                <a:ea typeface="Noto Sans Bold"/>
                <a:cs typeface="Noto Sans Bold"/>
                <a:sym typeface="Noto Sans Bold"/>
              </a:rPr>
              <a:t>mức</a:t>
            </a:r>
            <a:r>
              <a:rPr lang="en-US" sz="4994" b="1" dirty="0">
                <a:solidFill>
                  <a:srgbClr val="000000"/>
                </a:solidFill>
                <a:latin typeface="Noto Sans Bold"/>
                <a:ea typeface="Noto Sans Bold"/>
                <a:cs typeface="Noto Sans Bold"/>
                <a:sym typeface="Noto Sans Bold"/>
              </a:rPr>
              <a:t> 2 </a:t>
            </a:r>
          </a:p>
          <a:p>
            <a:pPr algn="ctr">
              <a:lnSpc>
                <a:spcPts val="6992"/>
              </a:lnSpc>
            </a:pPr>
            <a:r>
              <a:rPr lang="en-US" sz="4994" b="1" dirty="0" err="1">
                <a:solidFill>
                  <a:srgbClr val="000000"/>
                </a:solidFill>
                <a:latin typeface="Noto Sans Bold"/>
                <a:ea typeface="Noto Sans Bold"/>
                <a:cs typeface="Noto Sans Bold"/>
                <a:sym typeface="Noto Sans Bold"/>
              </a:rPr>
              <a:t>Chức</a:t>
            </a:r>
            <a:r>
              <a:rPr lang="en-US" sz="4994" b="1" dirty="0">
                <a:solidFill>
                  <a:srgbClr val="000000"/>
                </a:solidFill>
                <a:latin typeface="Noto Sans Bold"/>
                <a:ea typeface="Noto Sans Bold"/>
                <a:cs typeface="Noto Sans Bold"/>
                <a:sym typeface="Noto Sans Bold"/>
              </a:rPr>
              <a:t> </a:t>
            </a:r>
            <a:r>
              <a:rPr lang="en-US" sz="4994" b="1" dirty="0" err="1">
                <a:solidFill>
                  <a:srgbClr val="000000"/>
                </a:solidFill>
                <a:latin typeface="Noto Sans Bold"/>
                <a:ea typeface="Noto Sans Bold"/>
                <a:cs typeface="Noto Sans Bold"/>
                <a:sym typeface="Noto Sans Bold"/>
              </a:rPr>
              <a:t>năng</a:t>
            </a:r>
            <a:r>
              <a:rPr lang="en-US" sz="4994" b="1" dirty="0">
                <a:solidFill>
                  <a:srgbClr val="000000"/>
                </a:solidFill>
                <a:latin typeface="Noto Sans Bold"/>
                <a:ea typeface="Noto Sans Bold"/>
                <a:cs typeface="Noto Sans Bold"/>
                <a:sym typeface="Noto Sans Bold"/>
              </a:rPr>
              <a:t> </a:t>
            </a:r>
            <a:r>
              <a:rPr lang="en-US" sz="4994" b="1" dirty="0" err="1">
                <a:solidFill>
                  <a:srgbClr val="000000"/>
                </a:solidFill>
                <a:latin typeface="Noto Sans Bold"/>
                <a:ea typeface="Noto Sans Bold"/>
                <a:cs typeface="Noto Sans Bold"/>
                <a:sym typeface="Noto Sans Bold"/>
              </a:rPr>
              <a:t>quản</a:t>
            </a:r>
            <a:r>
              <a:rPr lang="en-US" sz="4994" b="1" dirty="0">
                <a:solidFill>
                  <a:srgbClr val="000000"/>
                </a:solidFill>
                <a:latin typeface="Noto Sans Bold"/>
                <a:ea typeface="Noto Sans Bold"/>
                <a:cs typeface="Noto Sans Bold"/>
                <a:sym typeface="Noto Sans Bold"/>
              </a:rPr>
              <a:t> </a:t>
            </a:r>
            <a:r>
              <a:rPr lang="en-US" sz="4994" b="1" dirty="0" err="1">
                <a:solidFill>
                  <a:srgbClr val="000000"/>
                </a:solidFill>
                <a:latin typeface="Noto Sans Bold"/>
                <a:ea typeface="Noto Sans Bold"/>
                <a:cs typeface="Noto Sans Bold"/>
                <a:sym typeface="Noto Sans Bold"/>
              </a:rPr>
              <a:t>lý</a:t>
            </a:r>
            <a:r>
              <a:rPr lang="en-US" sz="4994" b="1" dirty="0">
                <a:solidFill>
                  <a:srgbClr val="000000"/>
                </a:solidFill>
                <a:latin typeface="Noto Sans Bold"/>
                <a:ea typeface="Noto Sans Bold"/>
                <a:cs typeface="Noto Sans Bold"/>
                <a:sym typeface="Noto Sans Bold"/>
              </a:rPr>
              <a:t> </a:t>
            </a:r>
            <a:r>
              <a:rPr lang="en-US" sz="4994" b="1" dirty="0" err="1">
                <a:solidFill>
                  <a:srgbClr val="000000"/>
                </a:solidFill>
                <a:latin typeface="Noto Sans Bold"/>
                <a:ea typeface="Noto Sans Bold"/>
                <a:cs typeface="Noto Sans Bold"/>
                <a:sym typeface="Noto Sans Bold"/>
              </a:rPr>
              <a:t>đơn</a:t>
            </a:r>
            <a:r>
              <a:rPr lang="en-US" sz="4994" b="1" dirty="0">
                <a:solidFill>
                  <a:srgbClr val="000000"/>
                </a:solidFill>
                <a:latin typeface="Noto Sans Bold"/>
                <a:ea typeface="Noto Sans Bold"/>
                <a:cs typeface="Noto Sans Bold"/>
                <a:sym typeface="Noto Sans Bold"/>
              </a:rPr>
              <a:t> </a:t>
            </a:r>
            <a:r>
              <a:rPr lang="en-US" sz="4994" b="1" dirty="0" err="1">
                <a:solidFill>
                  <a:srgbClr val="000000"/>
                </a:solidFill>
                <a:latin typeface="Noto Sans Bold"/>
                <a:ea typeface="Noto Sans Bold"/>
                <a:cs typeface="Noto Sans Bold"/>
                <a:sym typeface="Noto Sans Bold"/>
              </a:rPr>
              <a:t>hàng</a:t>
            </a:r>
            <a:endParaRPr lang="en-US" sz="4994" b="1" dirty="0">
              <a:solidFill>
                <a:srgbClr val="000000"/>
              </a:solidFill>
              <a:latin typeface="Noto Sans Bold"/>
              <a:ea typeface="Noto Sans Bold"/>
              <a:cs typeface="Noto Sans Bold"/>
              <a:sym typeface="Noto Sans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2044323" y="2214970"/>
            <a:ext cx="14199354" cy="7043330"/>
          </a:xfrm>
          <a:custGeom>
            <a:avLst/>
            <a:gdLst/>
            <a:ahLst/>
            <a:cxnLst/>
            <a:rect l="l" t="t" r="r" b="b"/>
            <a:pathLst>
              <a:path w="14199354" h="7043330">
                <a:moveTo>
                  <a:pt x="0" y="0"/>
                </a:moveTo>
                <a:lnTo>
                  <a:pt x="14199354" y="0"/>
                </a:lnTo>
                <a:lnTo>
                  <a:pt x="14199354" y="7043330"/>
                </a:lnTo>
                <a:lnTo>
                  <a:pt x="0" y="7043330"/>
                </a:lnTo>
                <a:lnTo>
                  <a:pt x="0" y="0"/>
                </a:lnTo>
                <a:close/>
              </a:path>
            </a:pathLst>
          </a:custGeom>
          <a:blipFill>
            <a:blip r:embed="rId3"/>
            <a:stretch>
              <a:fillRect/>
            </a:stretch>
          </a:blipFill>
        </p:spPr>
      </p:sp>
      <p:sp>
        <p:nvSpPr>
          <p:cNvPr id="4" name="TextBox 4"/>
          <p:cNvSpPr txBox="1"/>
          <p:nvPr/>
        </p:nvSpPr>
        <p:spPr>
          <a:xfrm>
            <a:off x="1028700" y="933450"/>
            <a:ext cx="6362700" cy="887095"/>
          </a:xfrm>
          <a:prstGeom prst="rect">
            <a:avLst/>
          </a:prstGeom>
        </p:spPr>
        <p:txBody>
          <a:bodyPr wrap="square" lIns="0" tIns="0" rIns="0" bIns="0" rtlCol="0" anchor="t">
            <a:spAutoFit/>
          </a:bodyPr>
          <a:lstStyle/>
          <a:p>
            <a:pPr algn="ctr">
              <a:lnSpc>
                <a:spcPts val="7279"/>
              </a:lnSpc>
            </a:pPr>
            <a:r>
              <a:rPr lang="en-US" sz="5199" b="1" dirty="0" err="1">
                <a:solidFill>
                  <a:srgbClr val="000000"/>
                </a:solidFill>
                <a:latin typeface="Noto Sans Bold"/>
                <a:ea typeface="Noto Sans Bold"/>
                <a:cs typeface="Noto Sans Bold"/>
                <a:sym typeface="Noto Sans Bold"/>
              </a:rPr>
              <a:t>Sơ</a:t>
            </a:r>
            <a:r>
              <a:rPr lang="en-US" sz="5199" b="1" dirty="0">
                <a:solidFill>
                  <a:srgbClr val="000000"/>
                </a:solidFill>
                <a:latin typeface="Noto Sans Bold"/>
                <a:ea typeface="Noto Sans Bold"/>
                <a:cs typeface="Noto Sans Bold"/>
                <a:sym typeface="Noto Sans Bold"/>
              </a:rPr>
              <a:t> </a:t>
            </a:r>
            <a:r>
              <a:rPr lang="en-US" sz="5199" b="1" dirty="0" err="1">
                <a:solidFill>
                  <a:srgbClr val="000000"/>
                </a:solidFill>
                <a:latin typeface="Noto Sans Bold"/>
                <a:ea typeface="Noto Sans Bold"/>
                <a:cs typeface="Noto Sans Bold"/>
                <a:sym typeface="Noto Sans Bold"/>
              </a:rPr>
              <a:t>đồ</a:t>
            </a:r>
            <a:r>
              <a:rPr lang="en-US" sz="5199" b="1" dirty="0">
                <a:solidFill>
                  <a:srgbClr val="000000"/>
                </a:solidFill>
                <a:latin typeface="Noto Sans Bold"/>
                <a:ea typeface="Noto Sans Bold"/>
                <a:cs typeface="Noto Sans Bold"/>
                <a:sym typeface="Noto Sans Bold"/>
              </a:rPr>
              <a:t> website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1172181" y="3290323"/>
            <a:ext cx="15943638" cy="5914575"/>
          </a:xfrm>
          <a:custGeom>
            <a:avLst/>
            <a:gdLst/>
            <a:ahLst/>
            <a:cxnLst/>
            <a:rect l="l" t="t" r="r" b="b"/>
            <a:pathLst>
              <a:path w="15943638" h="5914575">
                <a:moveTo>
                  <a:pt x="0" y="0"/>
                </a:moveTo>
                <a:lnTo>
                  <a:pt x="15943638" y="0"/>
                </a:lnTo>
                <a:lnTo>
                  <a:pt x="15943638" y="5914575"/>
                </a:lnTo>
                <a:lnTo>
                  <a:pt x="0" y="5914575"/>
                </a:lnTo>
                <a:lnTo>
                  <a:pt x="0" y="0"/>
                </a:lnTo>
                <a:close/>
              </a:path>
            </a:pathLst>
          </a:custGeom>
          <a:blipFill>
            <a:blip r:embed="rId3"/>
            <a:stretch>
              <a:fillRect/>
            </a:stretch>
          </a:blipFill>
        </p:spPr>
      </p:sp>
      <p:sp>
        <p:nvSpPr>
          <p:cNvPr id="4" name="TextBox 4"/>
          <p:cNvSpPr txBox="1"/>
          <p:nvPr/>
        </p:nvSpPr>
        <p:spPr>
          <a:xfrm>
            <a:off x="1028700" y="933450"/>
            <a:ext cx="11161514"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CHƯƠNG 4 KẾT QUẢ NGHIÊN CỨU</a:t>
            </a:r>
          </a:p>
        </p:txBody>
      </p:sp>
      <p:sp>
        <p:nvSpPr>
          <p:cNvPr id="5" name="TextBox 5"/>
          <p:cNvSpPr txBox="1"/>
          <p:nvPr/>
        </p:nvSpPr>
        <p:spPr>
          <a:xfrm>
            <a:off x="1172181" y="2231901"/>
            <a:ext cx="5786557"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Bộ dữ liệu thực nghiệm: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1336545" y="3240847"/>
            <a:ext cx="15614910" cy="6017453"/>
          </a:xfrm>
          <a:custGeom>
            <a:avLst/>
            <a:gdLst/>
            <a:ahLst/>
            <a:cxnLst/>
            <a:rect l="l" t="t" r="r" b="b"/>
            <a:pathLst>
              <a:path w="15614910" h="6017453">
                <a:moveTo>
                  <a:pt x="0" y="0"/>
                </a:moveTo>
                <a:lnTo>
                  <a:pt x="15614910" y="0"/>
                </a:lnTo>
                <a:lnTo>
                  <a:pt x="15614910" y="6017453"/>
                </a:lnTo>
                <a:lnTo>
                  <a:pt x="0" y="6017453"/>
                </a:lnTo>
                <a:lnTo>
                  <a:pt x="0" y="0"/>
                </a:lnTo>
                <a:close/>
              </a:path>
            </a:pathLst>
          </a:custGeom>
          <a:blipFill>
            <a:blip r:embed="rId3"/>
            <a:stretch>
              <a:fillRect/>
            </a:stretch>
          </a:blipFill>
        </p:spPr>
      </p:sp>
      <p:sp>
        <p:nvSpPr>
          <p:cNvPr id="4" name="TextBox 4"/>
          <p:cNvSpPr txBox="1"/>
          <p:nvPr/>
        </p:nvSpPr>
        <p:spPr>
          <a:xfrm>
            <a:off x="1028700" y="2059559"/>
            <a:ext cx="5742087"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Bộ dữ liệu thực nghiệm: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5032331" y="2957432"/>
            <a:ext cx="8223337" cy="6300868"/>
          </a:xfrm>
          <a:custGeom>
            <a:avLst/>
            <a:gdLst/>
            <a:ahLst/>
            <a:cxnLst/>
            <a:rect l="l" t="t" r="r" b="b"/>
            <a:pathLst>
              <a:path w="8223337" h="6300868">
                <a:moveTo>
                  <a:pt x="0" y="0"/>
                </a:moveTo>
                <a:lnTo>
                  <a:pt x="8223338" y="0"/>
                </a:lnTo>
                <a:lnTo>
                  <a:pt x="8223338" y="6300868"/>
                </a:lnTo>
                <a:lnTo>
                  <a:pt x="0" y="6300868"/>
                </a:lnTo>
                <a:lnTo>
                  <a:pt x="0" y="0"/>
                </a:lnTo>
                <a:close/>
              </a:path>
            </a:pathLst>
          </a:custGeom>
          <a:blipFill>
            <a:blip r:embed="rId3"/>
            <a:stretch>
              <a:fillRect/>
            </a:stretch>
          </a:blipFill>
        </p:spPr>
      </p:sp>
      <p:sp>
        <p:nvSpPr>
          <p:cNvPr id="4" name="TextBox 4"/>
          <p:cNvSpPr txBox="1"/>
          <p:nvPr/>
        </p:nvSpPr>
        <p:spPr>
          <a:xfrm>
            <a:off x="1028700" y="2059559"/>
            <a:ext cx="5742087"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Bộ dữ liệu thực nghiệm: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1929960" y="3128143"/>
            <a:ext cx="14428079" cy="6130157"/>
          </a:xfrm>
          <a:custGeom>
            <a:avLst/>
            <a:gdLst/>
            <a:ahLst/>
            <a:cxnLst/>
            <a:rect l="l" t="t" r="r" b="b"/>
            <a:pathLst>
              <a:path w="14428079" h="6130157">
                <a:moveTo>
                  <a:pt x="0" y="0"/>
                </a:moveTo>
                <a:lnTo>
                  <a:pt x="14428080" y="0"/>
                </a:lnTo>
                <a:lnTo>
                  <a:pt x="14428080" y="6130157"/>
                </a:lnTo>
                <a:lnTo>
                  <a:pt x="0" y="6130157"/>
                </a:lnTo>
                <a:lnTo>
                  <a:pt x="0" y="0"/>
                </a:lnTo>
                <a:close/>
              </a:path>
            </a:pathLst>
          </a:custGeom>
          <a:blipFill>
            <a:blip r:embed="rId3"/>
            <a:stretch>
              <a:fillRect/>
            </a:stretch>
          </a:blipFill>
        </p:spPr>
      </p:sp>
      <p:sp>
        <p:nvSpPr>
          <p:cNvPr id="4" name="TextBox 4"/>
          <p:cNvSpPr txBox="1"/>
          <p:nvPr/>
        </p:nvSpPr>
        <p:spPr>
          <a:xfrm>
            <a:off x="1028700" y="2059559"/>
            <a:ext cx="5742087"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Bộ dữ liệu thực nghiệm: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2534329" y="3081504"/>
            <a:ext cx="13219343" cy="6176796"/>
          </a:xfrm>
          <a:custGeom>
            <a:avLst/>
            <a:gdLst/>
            <a:ahLst/>
            <a:cxnLst/>
            <a:rect l="l" t="t" r="r" b="b"/>
            <a:pathLst>
              <a:path w="13219343" h="6176796">
                <a:moveTo>
                  <a:pt x="0" y="0"/>
                </a:moveTo>
                <a:lnTo>
                  <a:pt x="13219342" y="0"/>
                </a:lnTo>
                <a:lnTo>
                  <a:pt x="13219342" y="6176796"/>
                </a:lnTo>
                <a:lnTo>
                  <a:pt x="0" y="6176796"/>
                </a:lnTo>
                <a:lnTo>
                  <a:pt x="0" y="0"/>
                </a:lnTo>
                <a:close/>
              </a:path>
            </a:pathLst>
          </a:custGeom>
          <a:blipFill>
            <a:blip r:embed="rId3"/>
            <a:stretch>
              <a:fillRect/>
            </a:stretch>
          </a:blipFill>
        </p:spPr>
      </p:sp>
      <p:sp>
        <p:nvSpPr>
          <p:cNvPr id="4" name="TextBox 4"/>
          <p:cNvSpPr txBox="1"/>
          <p:nvPr/>
        </p:nvSpPr>
        <p:spPr>
          <a:xfrm>
            <a:off x="1028700" y="2059559"/>
            <a:ext cx="5742087"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Bộ dữ liệu thực nghiệm: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Freeform 3"/>
          <p:cNvSpPr/>
          <p:nvPr/>
        </p:nvSpPr>
        <p:spPr>
          <a:xfrm>
            <a:off x="2264185" y="2983494"/>
            <a:ext cx="13759630" cy="6274806"/>
          </a:xfrm>
          <a:custGeom>
            <a:avLst/>
            <a:gdLst/>
            <a:ahLst/>
            <a:cxnLst/>
            <a:rect l="l" t="t" r="r" b="b"/>
            <a:pathLst>
              <a:path w="13759630" h="6274806">
                <a:moveTo>
                  <a:pt x="0" y="0"/>
                </a:moveTo>
                <a:lnTo>
                  <a:pt x="13759630" y="0"/>
                </a:lnTo>
                <a:lnTo>
                  <a:pt x="13759630" y="6274806"/>
                </a:lnTo>
                <a:lnTo>
                  <a:pt x="0" y="6274806"/>
                </a:lnTo>
                <a:lnTo>
                  <a:pt x="0" y="0"/>
                </a:lnTo>
                <a:close/>
              </a:path>
            </a:pathLst>
          </a:custGeom>
          <a:blipFill>
            <a:blip r:embed="rId3"/>
            <a:stretch>
              <a:fillRect/>
            </a:stretch>
          </a:blipFill>
        </p:spPr>
      </p:sp>
      <p:sp>
        <p:nvSpPr>
          <p:cNvPr id="4" name="TextBox 4"/>
          <p:cNvSpPr txBox="1"/>
          <p:nvPr/>
        </p:nvSpPr>
        <p:spPr>
          <a:xfrm>
            <a:off x="1028700" y="2059559"/>
            <a:ext cx="5742087"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Bộ dữ liệu thực nghiệm: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1028700" y="962025"/>
            <a:ext cx="5981700" cy="580390"/>
          </a:xfrm>
          <a:prstGeom prst="rect">
            <a:avLst/>
          </a:prstGeom>
        </p:spPr>
        <p:txBody>
          <a:bodyPr wrap="square" lIns="0" tIns="0" rIns="0" bIns="0" rtlCol="0" anchor="t">
            <a:spAutoFit/>
          </a:bodyPr>
          <a:lstStyle/>
          <a:p>
            <a:pPr algn="ctr">
              <a:lnSpc>
                <a:spcPts val="4759"/>
              </a:lnSpc>
            </a:pPr>
            <a:r>
              <a:rPr lang="en-US" sz="3399" dirty="0" err="1">
                <a:solidFill>
                  <a:srgbClr val="000000"/>
                </a:solidFill>
                <a:latin typeface="Noto Sans"/>
                <a:ea typeface="Noto Sans"/>
                <a:cs typeface="Noto Sans"/>
                <a:sym typeface="Noto Sans"/>
              </a:rPr>
              <a:t>Kết</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quả</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thực</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nghiệm</a:t>
            </a:r>
            <a:r>
              <a:rPr lang="en-US" sz="3399" dirty="0">
                <a:solidFill>
                  <a:srgbClr val="000000"/>
                </a:solidFill>
                <a:latin typeface="Noto Sans"/>
                <a:ea typeface="Noto Sans"/>
                <a:cs typeface="Noto Sans"/>
                <a:sym typeface="Noto Sans"/>
              </a:rPr>
              <a:t>:</a:t>
            </a:r>
          </a:p>
        </p:txBody>
      </p:sp>
      <p:sp>
        <p:nvSpPr>
          <p:cNvPr id="4" name="TextBox 4"/>
          <p:cNvSpPr txBox="1"/>
          <p:nvPr/>
        </p:nvSpPr>
        <p:spPr>
          <a:xfrm>
            <a:off x="1712162" y="2223362"/>
            <a:ext cx="13146838" cy="580390"/>
          </a:xfrm>
          <a:prstGeom prst="rect">
            <a:avLst/>
          </a:prstGeom>
        </p:spPr>
        <p:txBody>
          <a:bodyPr wrap="square" lIns="0" tIns="0" rIns="0" bIns="0" rtlCol="0" anchor="t">
            <a:spAutoFit/>
          </a:bodyPr>
          <a:lstStyle/>
          <a:p>
            <a:pPr algn="ctr">
              <a:lnSpc>
                <a:spcPts val="4759"/>
              </a:lnSpc>
            </a:pPr>
            <a:r>
              <a:rPr lang="en-US" sz="3399" dirty="0" err="1">
                <a:solidFill>
                  <a:srgbClr val="000000"/>
                </a:solidFill>
                <a:latin typeface="Noto Sans"/>
                <a:ea typeface="Noto Sans"/>
                <a:cs typeface="Noto Sans"/>
                <a:sym typeface="Noto Sans"/>
              </a:rPr>
              <a:t>Kết</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quả</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thực</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nghiệm</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từ</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bảng</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dữ</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liệu</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thực</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nghiệm</a:t>
            </a:r>
            <a:r>
              <a:rPr lang="en-US" sz="3399" dirty="0">
                <a:solidFill>
                  <a:srgbClr val="000000"/>
                </a:solidFill>
                <a:latin typeface="Noto Sans"/>
                <a:ea typeface="Noto Sans"/>
                <a:cs typeface="Noto Sans"/>
                <a:sym typeface="Noto Sans"/>
              </a:rPr>
              <a:t> (</a:t>
            </a:r>
            <a:r>
              <a:rPr lang="en-US" sz="3399" dirty="0" err="1">
                <a:solidFill>
                  <a:srgbClr val="000000"/>
                </a:solidFill>
                <a:latin typeface="Noto Sans"/>
                <a:ea typeface="Noto Sans"/>
                <a:cs typeface="Noto Sans"/>
                <a:sym typeface="Noto Sans"/>
              </a:rPr>
              <a:t>xem</a:t>
            </a:r>
            <a:r>
              <a:rPr lang="en-US" sz="3399" dirty="0">
                <a:solidFill>
                  <a:srgbClr val="000000"/>
                </a:solidFill>
                <a:latin typeface="Noto Sans"/>
                <a:ea typeface="Noto Sans"/>
                <a:cs typeface="Noto Sans"/>
                <a:sym typeface="Noto Sans"/>
              </a:rPr>
              <a:t> demo).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1313729" y="933450"/>
            <a:ext cx="15660543" cy="887095"/>
          </a:xfrm>
          <a:prstGeom prst="rect">
            <a:avLst/>
          </a:prstGeom>
        </p:spPr>
        <p:txBody>
          <a:bodyPr lIns="0" tIns="0" rIns="0" bIns="0" rtlCol="0" anchor="t">
            <a:spAutoFit/>
          </a:bodyPr>
          <a:lstStyle/>
          <a:p>
            <a:pPr algn="ctr">
              <a:lnSpc>
                <a:spcPts val="7279"/>
              </a:lnSpc>
            </a:pPr>
            <a:r>
              <a:rPr lang="en-US" sz="5199" b="1">
                <a:solidFill>
                  <a:srgbClr val="000000"/>
                </a:solidFill>
                <a:latin typeface="Noto Sans Bold"/>
                <a:ea typeface="Noto Sans Bold"/>
                <a:cs typeface="Noto Sans Bold"/>
                <a:sym typeface="Noto Sans Bold"/>
              </a:rPr>
              <a:t>CHƯƠNG 5 KẾT LUẬN VÀ HƯỚNG PHÁT TRIỂN</a:t>
            </a:r>
          </a:p>
        </p:txBody>
      </p:sp>
      <p:sp>
        <p:nvSpPr>
          <p:cNvPr id="4" name="TextBox 4"/>
          <p:cNvSpPr txBox="1"/>
          <p:nvPr/>
        </p:nvSpPr>
        <p:spPr>
          <a:xfrm>
            <a:off x="1313729" y="2287221"/>
            <a:ext cx="2815183"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Kết luận:</a:t>
            </a:r>
          </a:p>
        </p:txBody>
      </p:sp>
      <p:sp>
        <p:nvSpPr>
          <p:cNvPr id="5" name="TextBox 5"/>
          <p:cNvSpPr txBox="1"/>
          <p:nvPr/>
        </p:nvSpPr>
        <p:spPr>
          <a:xfrm>
            <a:off x="1271663" y="3334336"/>
            <a:ext cx="15744673" cy="5981065"/>
          </a:xfrm>
          <a:prstGeom prst="rect">
            <a:avLst/>
          </a:prstGeom>
        </p:spPr>
        <p:txBody>
          <a:bodyPr lIns="0" tIns="0" rIns="0" bIns="0" rtlCol="0" anchor="t">
            <a:spAutoFit/>
          </a:bodyPr>
          <a:lstStyle/>
          <a:p>
            <a:pPr algn="l">
              <a:lnSpc>
                <a:spcPts val="4759"/>
              </a:lnSpc>
            </a:pPr>
            <a:r>
              <a:rPr lang="en-US" sz="3399">
                <a:solidFill>
                  <a:srgbClr val="000000"/>
                </a:solidFill>
                <a:latin typeface="Noto Sans"/>
                <a:ea typeface="Noto Sans"/>
                <a:cs typeface="Noto Sans"/>
                <a:sym typeface="Noto Sans"/>
              </a:rPr>
              <a:t> Sau quá trình nghiên cứu, phân tích và triển khai đề tài “Phát triển Hệ thống Quản lý Bán hàng và Đặt hàng Trực tuyến Quần áo Thể thao”, hệ thống đã được xây dựng thành công và đáp ứng các mục tiêu ban đầu đề ra. Website cho phép người dùng thực hiện các thao tác mua sắm trực tuyến một cách thuận tiện, đồng thời hỗ trợ quản trị viên trong việc quản lý sản phẩm, đơn hàng và theo dõi tình hình kinh doanh.</a:t>
            </a:r>
          </a:p>
          <a:p>
            <a:pPr algn="l">
              <a:lnSpc>
                <a:spcPts val="4759"/>
              </a:lnSpc>
            </a:pPr>
            <a:r>
              <a:rPr lang="en-US" sz="3399">
                <a:solidFill>
                  <a:srgbClr val="000000"/>
                </a:solidFill>
                <a:latin typeface="Noto Sans"/>
                <a:ea typeface="Noto Sans"/>
                <a:cs typeface="Noto Sans"/>
                <a:sym typeface="Noto Sans"/>
              </a:rPr>
              <a:t> Đề tài mang tính thực tiễn cao, phù hợp với xu hướng thương mại điện tử hiện nay, đồng thời giúp sinh viên củng cố và vận dụng hiệu quả các kiến thức đã học vào một sản phẩm cụ thể.</a:t>
            </a:r>
          </a:p>
          <a:p>
            <a:pPr algn="l">
              <a:lnSpc>
                <a:spcPts val="4759"/>
              </a:lnSpc>
            </a:pPr>
            <a:endParaRPr lang="en-US" sz="3399">
              <a:solidFill>
                <a:srgbClr val="000000"/>
              </a:solidFill>
              <a:latin typeface="Noto Sans"/>
              <a:ea typeface="Noto Sans"/>
              <a:cs typeface="Noto Sans"/>
              <a:sym typeface="No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1313729" y="2287221"/>
            <a:ext cx="4474869" cy="580390"/>
          </a:xfrm>
          <a:prstGeom prst="rect">
            <a:avLst/>
          </a:prstGeom>
        </p:spPr>
        <p:txBody>
          <a:bodyPr lIns="0" tIns="0" rIns="0" bIns="0" rtlCol="0" anchor="t">
            <a:spAutoFit/>
          </a:bodyPr>
          <a:lstStyle/>
          <a:p>
            <a:pPr algn="ctr">
              <a:lnSpc>
                <a:spcPts val="4759"/>
              </a:lnSpc>
            </a:pPr>
            <a:r>
              <a:rPr lang="en-US" sz="3399">
                <a:solidFill>
                  <a:srgbClr val="000000"/>
                </a:solidFill>
                <a:latin typeface="Noto Sans"/>
                <a:ea typeface="Noto Sans"/>
                <a:cs typeface="Noto Sans"/>
                <a:sym typeface="Noto Sans"/>
              </a:rPr>
              <a:t>Hướng phát triển:</a:t>
            </a:r>
          </a:p>
        </p:txBody>
      </p:sp>
      <p:sp>
        <p:nvSpPr>
          <p:cNvPr id="4" name="TextBox 4"/>
          <p:cNvSpPr txBox="1"/>
          <p:nvPr/>
        </p:nvSpPr>
        <p:spPr>
          <a:xfrm>
            <a:off x="1313729" y="3426271"/>
            <a:ext cx="15945571" cy="4181323"/>
          </a:xfrm>
          <a:prstGeom prst="rect">
            <a:avLst/>
          </a:prstGeom>
        </p:spPr>
        <p:txBody>
          <a:bodyPr lIns="0" tIns="0" rIns="0" bIns="0" rtlCol="0" anchor="t">
            <a:spAutoFit/>
          </a:bodyPr>
          <a:lstStyle/>
          <a:p>
            <a:pPr algn="just">
              <a:lnSpc>
                <a:spcPts val="3683"/>
              </a:lnSpc>
            </a:pPr>
            <a:r>
              <a:rPr lang="en-US" sz="2631">
                <a:solidFill>
                  <a:srgbClr val="000000"/>
                </a:solidFill>
                <a:latin typeface="Noto Sans"/>
                <a:ea typeface="Noto Sans"/>
                <a:cs typeface="Noto Sans"/>
                <a:sym typeface="Noto Sans"/>
              </a:rPr>
              <a:t> Trong tương lai, hệ thống có thể tiếp tục được mở rộng và hoàn thiện để đáp ứng tốt hơn nhu cầu thực tế. Một số hướng phát triển tiềm năng bao gồm:</a:t>
            </a:r>
          </a:p>
          <a:p>
            <a:pPr algn="just">
              <a:lnSpc>
                <a:spcPts val="3683"/>
              </a:lnSpc>
            </a:pPr>
            <a:r>
              <a:rPr lang="en-US" sz="2631">
                <a:solidFill>
                  <a:srgbClr val="000000"/>
                </a:solidFill>
                <a:latin typeface="Noto Sans"/>
                <a:ea typeface="Noto Sans"/>
                <a:cs typeface="Noto Sans"/>
                <a:sym typeface="Noto Sans"/>
              </a:rPr>
              <a:t>-Tích hợp cổng thanh toán trực tuyến như VNPay, MoMo hoặc ZaloPay để tăng tính tiện lợi cho khách hàng.</a:t>
            </a:r>
          </a:p>
          <a:p>
            <a:pPr algn="just">
              <a:lnSpc>
                <a:spcPts val="3683"/>
              </a:lnSpc>
            </a:pPr>
            <a:r>
              <a:rPr lang="en-US" sz="2631">
                <a:solidFill>
                  <a:srgbClr val="000000"/>
                </a:solidFill>
                <a:latin typeface="Noto Sans"/>
                <a:ea typeface="Noto Sans"/>
                <a:cs typeface="Noto Sans"/>
                <a:sym typeface="Noto Sans"/>
              </a:rPr>
              <a:t>-Bổ sung chức năng theo dõi trạng thái đơn hàng và gửi email thông báo tự động.</a:t>
            </a:r>
          </a:p>
          <a:p>
            <a:pPr algn="just">
              <a:lnSpc>
                <a:spcPts val="3683"/>
              </a:lnSpc>
            </a:pPr>
            <a:r>
              <a:rPr lang="en-US" sz="2631">
                <a:solidFill>
                  <a:srgbClr val="000000"/>
                </a:solidFill>
                <a:latin typeface="Noto Sans"/>
                <a:ea typeface="Noto Sans"/>
                <a:cs typeface="Noto Sans"/>
                <a:sym typeface="Noto Sans"/>
              </a:rPr>
              <a:t>-Mở rộng hệ thống quản lý với các chức năng khuyến mãi, mã giảm giá và quản lý tồn kho chi tiết.</a:t>
            </a:r>
          </a:p>
          <a:p>
            <a:pPr algn="just">
              <a:lnSpc>
                <a:spcPts val="3683"/>
              </a:lnSpc>
            </a:pPr>
            <a:r>
              <a:rPr lang="en-US" sz="2631">
                <a:solidFill>
                  <a:srgbClr val="000000"/>
                </a:solidFill>
                <a:latin typeface="Noto Sans"/>
                <a:ea typeface="Noto Sans"/>
                <a:cs typeface="Noto Sans"/>
                <a:sym typeface="Noto Sans"/>
              </a:rPr>
              <a:t>-Nâng cao bảo mật bằng các cơ chế xác thực và phân quyền chặt chẽ hơn.</a:t>
            </a:r>
          </a:p>
          <a:p>
            <a:pPr algn="just">
              <a:lnSpc>
                <a:spcPts val="3683"/>
              </a:lnSpc>
            </a:pPr>
            <a:r>
              <a:rPr lang="en-US" sz="2631">
                <a:solidFill>
                  <a:srgbClr val="000000"/>
                </a:solidFill>
                <a:latin typeface="Noto Sans"/>
                <a:ea typeface="Noto Sans"/>
                <a:cs typeface="Noto Sans"/>
                <a:sym typeface="Noto Sans"/>
              </a:rPr>
              <a:t>-Áp dụng các framework hiện đại nhằm tối ưu hiệu suất và khả năng mở rộng hệ thống.</a:t>
            </a:r>
          </a:p>
          <a:p>
            <a:pPr algn="l">
              <a:lnSpc>
                <a:spcPts val="3683"/>
              </a:lnSpc>
            </a:pPr>
            <a:endParaRPr lang="en-US" sz="2631">
              <a:solidFill>
                <a:srgbClr val="000000"/>
              </a:solidFill>
              <a:latin typeface="Noto Sans"/>
              <a:ea typeface="Noto Sans"/>
              <a:cs typeface="Noto Sans"/>
              <a:sym typeface="No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sp>
      <p:sp>
        <p:nvSpPr>
          <p:cNvPr id="3" name="TextBox 3"/>
          <p:cNvSpPr txBox="1"/>
          <p:nvPr/>
        </p:nvSpPr>
        <p:spPr>
          <a:xfrm>
            <a:off x="984935" y="4360228"/>
            <a:ext cx="16298466" cy="1566544"/>
          </a:xfrm>
          <a:prstGeom prst="rect">
            <a:avLst/>
          </a:prstGeom>
        </p:spPr>
        <p:txBody>
          <a:bodyPr wrap="square" lIns="0" tIns="0" rIns="0" bIns="0" rtlCol="0" anchor="t">
            <a:spAutoFit/>
          </a:bodyPr>
          <a:lstStyle/>
          <a:p>
            <a:pPr algn="ctr">
              <a:lnSpc>
                <a:spcPts val="12880"/>
              </a:lnSpc>
            </a:pPr>
            <a:r>
              <a:rPr lang="en-US" sz="9200" b="1" dirty="0" err="1">
                <a:solidFill>
                  <a:srgbClr val="000000"/>
                </a:solidFill>
                <a:latin typeface="Noto Sans Bold"/>
                <a:ea typeface="Noto Sans Bold"/>
                <a:cs typeface="Noto Sans Bold"/>
                <a:sym typeface="Noto Sans Bold"/>
              </a:rPr>
              <a:t>Cảm</a:t>
            </a:r>
            <a:r>
              <a:rPr lang="en-US" sz="9200" b="1" dirty="0">
                <a:solidFill>
                  <a:srgbClr val="000000"/>
                </a:solidFill>
                <a:latin typeface="Noto Sans Bold"/>
                <a:ea typeface="Noto Sans Bold"/>
                <a:cs typeface="Noto Sans Bold"/>
                <a:sym typeface="Noto Sans Bold"/>
              </a:rPr>
              <a:t> </a:t>
            </a:r>
            <a:r>
              <a:rPr lang="en-US" sz="9200" b="1" dirty="0" err="1">
                <a:solidFill>
                  <a:srgbClr val="000000"/>
                </a:solidFill>
                <a:latin typeface="Noto Sans Bold"/>
                <a:ea typeface="Noto Sans Bold"/>
                <a:cs typeface="Noto Sans Bold"/>
                <a:sym typeface="Noto Sans Bold"/>
              </a:rPr>
              <a:t>ơn</a:t>
            </a:r>
            <a:r>
              <a:rPr lang="en-US" sz="9200" b="1" dirty="0">
                <a:solidFill>
                  <a:srgbClr val="000000"/>
                </a:solidFill>
                <a:latin typeface="Noto Sans Bold"/>
                <a:ea typeface="Noto Sans Bold"/>
                <a:cs typeface="Noto Sans Bold"/>
                <a:sym typeface="Noto Sans Bold"/>
              </a:rPr>
              <a:t> </a:t>
            </a:r>
            <a:r>
              <a:rPr lang="en-US" sz="9200" b="1" dirty="0" err="1">
                <a:solidFill>
                  <a:srgbClr val="000000"/>
                </a:solidFill>
                <a:latin typeface="Noto Sans Bold"/>
                <a:ea typeface="Noto Sans Bold"/>
                <a:cs typeface="Noto Sans Bold"/>
                <a:sym typeface="Noto Sans Bold"/>
              </a:rPr>
              <a:t>thầy</a:t>
            </a:r>
            <a:r>
              <a:rPr lang="en-US" sz="9200" b="1" dirty="0">
                <a:solidFill>
                  <a:srgbClr val="000000"/>
                </a:solidFill>
                <a:latin typeface="Noto Sans Bold"/>
                <a:ea typeface="Noto Sans Bold"/>
                <a:cs typeface="Noto Sans Bold"/>
                <a:sym typeface="Noto Sans Bold"/>
              </a:rPr>
              <a:t> </a:t>
            </a:r>
            <a:r>
              <a:rPr lang="en-US" sz="9200" b="1" dirty="0" err="1">
                <a:solidFill>
                  <a:srgbClr val="000000"/>
                </a:solidFill>
                <a:latin typeface="Noto Sans Bold"/>
                <a:ea typeface="Noto Sans Bold"/>
                <a:cs typeface="Noto Sans Bold"/>
                <a:sym typeface="Noto Sans Bold"/>
              </a:rPr>
              <a:t>cô</a:t>
            </a:r>
            <a:r>
              <a:rPr lang="en-US" sz="9200" b="1" dirty="0">
                <a:solidFill>
                  <a:srgbClr val="000000"/>
                </a:solidFill>
                <a:latin typeface="Noto Sans Bold"/>
                <a:ea typeface="Noto Sans Bold"/>
                <a:cs typeface="Noto Sans Bold"/>
                <a:sym typeface="Noto Sans Bold"/>
              </a:rPr>
              <a:t> </a:t>
            </a:r>
            <a:r>
              <a:rPr lang="en-US" sz="9200" b="1" dirty="0" err="1">
                <a:solidFill>
                  <a:srgbClr val="000000"/>
                </a:solidFill>
                <a:latin typeface="Noto Sans Bold"/>
                <a:ea typeface="Noto Sans Bold"/>
                <a:cs typeface="Noto Sans Bold"/>
                <a:sym typeface="Noto Sans Bold"/>
              </a:rPr>
              <a:t>đã</a:t>
            </a:r>
            <a:r>
              <a:rPr lang="en-US" sz="9200" b="1" dirty="0">
                <a:solidFill>
                  <a:srgbClr val="000000"/>
                </a:solidFill>
                <a:latin typeface="Noto Sans Bold"/>
                <a:ea typeface="Noto Sans Bold"/>
                <a:cs typeface="Noto Sans Bold"/>
                <a:sym typeface="Noto Sans Bold"/>
              </a:rPr>
              <a:t> </a:t>
            </a:r>
            <a:r>
              <a:rPr lang="en-US" sz="9200" b="1" dirty="0" err="1">
                <a:solidFill>
                  <a:srgbClr val="000000"/>
                </a:solidFill>
                <a:latin typeface="Noto Sans Bold"/>
                <a:ea typeface="Noto Sans Bold"/>
                <a:cs typeface="Noto Sans Bold"/>
                <a:sym typeface="Noto Sans Bold"/>
              </a:rPr>
              <a:t>xem</a:t>
            </a:r>
            <a:r>
              <a:rPr lang="en-US" sz="9200" b="1">
                <a:solidFill>
                  <a:srgbClr val="000000"/>
                </a:solidFill>
                <a:latin typeface="Noto Sans Bold"/>
                <a:ea typeface="Noto Sans Bold"/>
                <a:cs typeface="Noto Sans Bold"/>
                <a:sym typeface="Noto Sans Bold"/>
              </a:rPr>
              <a:t> ạ</a:t>
            </a:r>
            <a:endParaRPr lang="en-US" sz="9200" b="1" dirty="0">
              <a:solidFill>
                <a:srgbClr val="000000"/>
              </a:solidFill>
              <a:latin typeface="Noto Sans Bold"/>
              <a:ea typeface="Noto Sans Bold"/>
              <a:cs typeface="Noto Sans Bold"/>
              <a:sym typeface="Noto Sans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1136</Words>
  <Application>Microsoft Office PowerPoint</Application>
  <PresentationFormat>Custom</PresentationFormat>
  <Paragraphs>63</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Noto Sans</vt:lpstr>
      <vt:lpstr>Noto Sans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kỹ thuật và công nghệ Khoa công nghệ và thông tin</dc:title>
  <cp:lastModifiedBy>Thái Huỳnh</cp:lastModifiedBy>
  <cp:revision>13</cp:revision>
  <dcterms:created xsi:type="dcterms:W3CDTF">2006-08-16T00:00:00Z</dcterms:created>
  <dcterms:modified xsi:type="dcterms:W3CDTF">2025-12-29T06:41:07Z</dcterms:modified>
  <dc:identifier>DAG8yDcZDKk</dc:identifier>
</cp:coreProperties>
</file>